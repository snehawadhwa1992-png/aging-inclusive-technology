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8" r:id="rId8"/>
    <p:sldId id="262"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7880"/>
    <a:srgbClr val="5D809F"/>
    <a:srgbClr val="00AE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77C7D-BE32-8847-B93F-27F2E5BEA082}" v="367" dt="2025-11-01T22:58:16.9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56"/>
  </p:normalViewPr>
  <p:slideViewPr>
    <p:cSldViewPr snapToGrid="0">
      <p:cViewPr varScale="1">
        <p:scale>
          <a:sx n="107" d="100"/>
          <a:sy n="107"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071035-6F37-0F49-AA63-5E5D5193EEF4}"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547501BD-ECA2-A041-A931-B84F9151FC21}">
      <dgm:prSet phldrT="[Text]"/>
      <dgm:spPr/>
      <dgm:t>
        <a:bodyPr/>
        <a:lstStyle/>
        <a:p>
          <a:r>
            <a:rPr lang="en-US" dirty="0"/>
            <a:t>Design Process</a:t>
          </a:r>
        </a:p>
      </dgm:t>
    </dgm:pt>
    <dgm:pt modelId="{C594240D-AF3E-484A-BE51-ED51B67E9DA6}" type="parTrans" cxnId="{DD63284A-ED88-BA40-918A-CB6D11B37D04}">
      <dgm:prSet/>
      <dgm:spPr/>
      <dgm:t>
        <a:bodyPr/>
        <a:lstStyle/>
        <a:p>
          <a:endParaRPr lang="en-US"/>
        </a:p>
      </dgm:t>
    </dgm:pt>
    <dgm:pt modelId="{9C1F8450-CF55-1B44-A193-FDE346DBEBE7}" type="sibTrans" cxnId="{DD63284A-ED88-BA40-918A-CB6D11B37D04}">
      <dgm:prSet/>
      <dgm:spPr/>
      <dgm:t>
        <a:bodyPr/>
        <a:lstStyle/>
        <a:p>
          <a:endParaRPr lang="en-US"/>
        </a:p>
      </dgm:t>
    </dgm:pt>
    <dgm:pt modelId="{B7F55455-9D49-7945-B062-E45B35976050}">
      <dgm:prSet phldrT="[Text]"/>
      <dgm:spPr/>
      <dgm:t>
        <a:bodyPr/>
        <a:lstStyle/>
        <a:p>
          <a:pPr>
            <a:buSzPts val="1000"/>
            <a:buFont typeface="Symbol" pitchFamily="2" charset="2"/>
            <a:buChar char=""/>
          </a:pPr>
          <a:r>
            <a:rPr lang="en-US"/>
            <a:t>Products designed FOR seniors, not WITH them</a:t>
          </a:r>
          <a:endParaRPr lang="en-US" dirty="0"/>
        </a:p>
      </dgm:t>
    </dgm:pt>
    <dgm:pt modelId="{951C42C6-80BD-A94F-A7D9-BB75472A227C}" type="parTrans" cxnId="{0F29B638-C301-4544-8348-28D02DCD7A6A}">
      <dgm:prSet/>
      <dgm:spPr/>
      <dgm:t>
        <a:bodyPr/>
        <a:lstStyle/>
        <a:p>
          <a:endParaRPr lang="en-US"/>
        </a:p>
      </dgm:t>
    </dgm:pt>
    <dgm:pt modelId="{844E294B-1B1C-4740-AD51-89EB2D2EB6F9}" type="sibTrans" cxnId="{0F29B638-C301-4544-8348-28D02DCD7A6A}">
      <dgm:prSet/>
      <dgm:spPr/>
      <dgm:t>
        <a:bodyPr/>
        <a:lstStyle/>
        <a:p>
          <a:endParaRPr lang="en-US"/>
        </a:p>
      </dgm:t>
    </dgm:pt>
    <dgm:pt modelId="{B2499203-9C66-FF4B-9312-3EA403C628A5}">
      <dgm:prSet phldrT="[Text]"/>
      <dgm:spPr/>
      <dgm:t>
        <a:bodyPr/>
        <a:lstStyle/>
        <a:p>
          <a:pPr>
            <a:buNone/>
          </a:pPr>
          <a:r>
            <a:rPr lang="en-US" b="1" dirty="0"/>
            <a:t>Primary User</a:t>
          </a:r>
          <a:endParaRPr lang="en-US" dirty="0"/>
        </a:p>
      </dgm:t>
    </dgm:pt>
    <dgm:pt modelId="{F9B793F3-6B6B-3D45-BB29-36E374AC07DC}" type="parTrans" cxnId="{BADB1A91-64E9-484B-865C-2BF6EE852BD2}">
      <dgm:prSet/>
      <dgm:spPr/>
      <dgm:t>
        <a:bodyPr/>
        <a:lstStyle/>
        <a:p>
          <a:endParaRPr lang="en-US"/>
        </a:p>
      </dgm:t>
    </dgm:pt>
    <dgm:pt modelId="{0D86BB78-8485-D740-A15A-71080CFFD566}" type="sibTrans" cxnId="{BADB1A91-64E9-484B-865C-2BF6EE852BD2}">
      <dgm:prSet/>
      <dgm:spPr/>
      <dgm:t>
        <a:bodyPr/>
        <a:lstStyle/>
        <a:p>
          <a:endParaRPr lang="en-US"/>
        </a:p>
      </dgm:t>
    </dgm:pt>
    <dgm:pt modelId="{5E4AC18C-A63D-684A-97BF-FC40A9C44CD1}">
      <dgm:prSet phldrT="[Text]"/>
      <dgm:spPr/>
      <dgm:t>
        <a:bodyPr/>
        <a:lstStyle/>
        <a:p>
          <a:pPr>
            <a:buSzPts val="1000"/>
            <a:buFont typeface="Symbol" pitchFamily="2" charset="2"/>
            <a:buChar char=""/>
          </a:pPr>
          <a:r>
            <a:rPr lang="en-US" dirty="0"/>
            <a:t>Caregivers positioned as main users</a:t>
          </a:r>
        </a:p>
      </dgm:t>
    </dgm:pt>
    <dgm:pt modelId="{C675A687-ADAE-D24E-9003-3A3E29B200D5}" type="parTrans" cxnId="{AB8F34AE-634B-8F4E-AA34-B8181767CCCB}">
      <dgm:prSet/>
      <dgm:spPr/>
      <dgm:t>
        <a:bodyPr/>
        <a:lstStyle/>
        <a:p>
          <a:endParaRPr lang="en-US"/>
        </a:p>
      </dgm:t>
    </dgm:pt>
    <dgm:pt modelId="{2DFAEC57-1278-D145-B309-5F407F646177}" type="sibTrans" cxnId="{AB8F34AE-634B-8F4E-AA34-B8181767CCCB}">
      <dgm:prSet/>
      <dgm:spPr/>
      <dgm:t>
        <a:bodyPr/>
        <a:lstStyle/>
        <a:p>
          <a:endParaRPr lang="en-US"/>
        </a:p>
      </dgm:t>
    </dgm:pt>
    <dgm:pt modelId="{D3B7F17C-131A-E54A-93DF-54285820917C}">
      <dgm:prSet phldrT="[Text]"/>
      <dgm:spPr/>
      <dgm:t>
        <a:bodyPr/>
        <a:lstStyle/>
        <a:p>
          <a:pPr>
            <a:buNone/>
          </a:pPr>
          <a:r>
            <a:rPr lang="en-US" b="1" dirty="0"/>
            <a:t>Product Focus</a:t>
          </a:r>
          <a:endParaRPr lang="en-US" dirty="0"/>
        </a:p>
      </dgm:t>
    </dgm:pt>
    <dgm:pt modelId="{F6A0A779-DCAD-A540-B4FA-B1935C439B02}" type="parTrans" cxnId="{179268C5-25EB-D14E-82B2-006C1B85A00A}">
      <dgm:prSet/>
      <dgm:spPr/>
      <dgm:t>
        <a:bodyPr/>
        <a:lstStyle/>
        <a:p>
          <a:endParaRPr lang="en-US"/>
        </a:p>
      </dgm:t>
    </dgm:pt>
    <dgm:pt modelId="{8FEDCEC9-4F7F-314D-AF0F-DBD381927C6B}" type="sibTrans" cxnId="{179268C5-25EB-D14E-82B2-006C1B85A00A}">
      <dgm:prSet/>
      <dgm:spPr/>
      <dgm:t>
        <a:bodyPr/>
        <a:lstStyle/>
        <a:p>
          <a:endParaRPr lang="en-US"/>
        </a:p>
      </dgm:t>
    </dgm:pt>
    <dgm:pt modelId="{786CCE0E-8A19-0E41-8D44-EA3D4B432B87}">
      <dgm:prSet phldrT="[Text]"/>
      <dgm:spPr/>
      <dgm:t>
        <a:bodyPr/>
        <a:lstStyle/>
        <a:p>
          <a:r>
            <a:rPr lang="en-US" dirty="0"/>
            <a:t>Health-domain dominated (fall detection, medication reminders, health monitoring)</a:t>
          </a:r>
        </a:p>
      </dgm:t>
    </dgm:pt>
    <dgm:pt modelId="{9970B077-C5E0-D74D-AE38-F38F9BDC878A}" type="parTrans" cxnId="{817E5EF6-7CB1-204B-AF66-FC3233F5DE33}">
      <dgm:prSet/>
      <dgm:spPr/>
      <dgm:t>
        <a:bodyPr/>
        <a:lstStyle/>
        <a:p>
          <a:endParaRPr lang="en-US"/>
        </a:p>
      </dgm:t>
    </dgm:pt>
    <dgm:pt modelId="{480B8617-94CD-FA4E-85C3-D4242B8E027E}" type="sibTrans" cxnId="{817E5EF6-7CB1-204B-AF66-FC3233F5DE33}">
      <dgm:prSet/>
      <dgm:spPr/>
      <dgm:t>
        <a:bodyPr/>
        <a:lstStyle/>
        <a:p>
          <a:endParaRPr lang="en-US"/>
        </a:p>
      </dgm:t>
    </dgm:pt>
    <dgm:pt modelId="{84AB9F80-4F40-D248-89C4-48EFE55BCDD1}">
      <dgm:prSet/>
      <dgm:spPr/>
      <dgm:t>
        <a:bodyPr/>
        <a:lstStyle/>
        <a:p>
          <a:pPr>
            <a:buSzPts val="1000"/>
            <a:buFont typeface="Symbol" pitchFamily="2" charset="2"/>
            <a:buChar char=""/>
          </a:pPr>
          <a:r>
            <a:rPr lang="en-US"/>
            <a:t>Minimal meaningful co-design or participation</a:t>
          </a:r>
        </a:p>
      </dgm:t>
    </dgm:pt>
    <dgm:pt modelId="{00E3EFAD-7221-2440-8138-C8022AC78432}" type="parTrans" cxnId="{B42A1388-8951-0141-9C22-E19A716BE245}">
      <dgm:prSet/>
      <dgm:spPr/>
      <dgm:t>
        <a:bodyPr/>
        <a:lstStyle/>
        <a:p>
          <a:endParaRPr lang="en-US"/>
        </a:p>
      </dgm:t>
    </dgm:pt>
    <dgm:pt modelId="{71AE25C4-64C8-994B-AEB6-14B28602B62B}" type="sibTrans" cxnId="{B42A1388-8951-0141-9C22-E19A716BE245}">
      <dgm:prSet/>
      <dgm:spPr/>
      <dgm:t>
        <a:bodyPr/>
        <a:lstStyle/>
        <a:p>
          <a:endParaRPr lang="en-US"/>
        </a:p>
      </dgm:t>
    </dgm:pt>
    <dgm:pt modelId="{64593076-6A37-B749-9B51-DA4BCF2AC7EA}">
      <dgm:prSet/>
      <dgm:spPr/>
      <dgm:t>
        <a:bodyPr/>
        <a:lstStyle/>
        <a:p>
          <a:pPr>
            <a:buSzPts val="1000"/>
            <a:buFont typeface="Symbol" pitchFamily="2" charset="2"/>
            <a:buChar char=""/>
          </a:pPr>
          <a:r>
            <a:rPr lang="en-US" dirty="0"/>
            <a:t>Senior voices systematically excluded</a:t>
          </a:r>
        </a:p>
      </dgm:t>
    </dgm:pt>
    <dgm:pt modelId="{A3C53E65-4D1A-9E4C-9427-55DC0459620E}" type="parTrans" cxnId="{B49A9805-3B08-B94D-95F6-C44501AAA6F0}">
      <dgm:prSet/>
      <dgm:spPr/>
      <dgm:t>
        <a:bodyPr/>
        <a:lstStyle/>
        <a:p>
          <a:endParaRPr lang="en-US"/>
        </a:p>
      </dgm:t>
    </dgm:pt>
    <dgm:pt modelId="{9C19D351-BF52-3E45-B8FC-6339A7AB00C9}" type="sibTrans" cxnId="{B49A9805-3B08-B94D-95F6-C44501AAA6F0}">
      <dgm:prSet/>
      <dgm:spPr/>
      <dgm:t>
        <a:bodyPr/>
        <a:lstStyle/>
        <a:p>
          <a:endParaRPr lang="en-US"/>
        </a:p>
      </dgm:t>
    </dgm:pt>
    <dgm:pt modelId="{2B5EB0EA-EB5F-5F40-952C-D8FFB0FBA37D}">
      <dgm:prSet/>
      <dgm:spPr/>
      <dgm:t>
        <a:bodyPr/>
        <a:lstStyle/>
        <a:p>
          <a:pPr>
            <a:buSzPts val="1000"/>
            <a:buFont typeface="Symbol" pitchFamily="2" charset="2"/>
            <a:buChar char=""/>
          </a:pPr>
          <a:r>
            <a:rPr lang="en-US"/>
            <a:t>Seniors become passive subjects of monitoring</a:t>
          </a:r>
        </a:p>
      </dgm:t>
    </dgm:pt>
    <dgm:pt modelId="{A4239689-7284-5C40-8874-1915308E7140}" type="parTrans" cxnId="{551E3D40-19EB-544C-8313-1210C2A33FDE}">
      <dgm:prSet/>
      <dgm:spPr/>
      <dgm:t>
        <a:bodyPr/>
        <a:lstStyle/>
        <a:p>
          <a:endParaRPr lang="en-US"/>
        </a:p>
      </dgm:t>
    </dgm:pt>
    <dgm:pt modelId="{8E0AD51C-9ADA-7441-9C6C-AF7C7CC759F9}" type="sibTrans" cxnId="{551E3D40-19EB-544C-8313-1210C2A33FDE}">
      <dgm:prSet/>
      <dgm:spPr/>
      <dgm:t>
        <a:bodyPr/>
        <a:lstStyle/>
        <a:p>
          <a:endParaRPr lang="en-US"/>
        </a:p>
      </dgm:t>
    </dgm:pt>
    <dgm:pt modelId="{16790AD1-DB11-284F-BEAF-C78FA613E726}">
      <dgm:prSet/>
      <dgm:spPr/>
      <dgm:t>
        <a:bodyPr/>
        <a:lstStyle/>
        <a:p>
          <a:pPr>
            <a:buSzPts val="1000"/>
            <a:buFont typeface="Symbol" pitchFamily="2" charset="2"/>
            <a:buChar char=""/>
          </a:pPr>
          <a:r>
            <a:rPr lang="en-US" dirty="0"/>
            <a:t>Contradicts values of independence and agency</a:t>
          </a:r>
        </a:p>
      </dgm:t>
    </dgm:pt>
    <dgm:pt modelId="{4F2C696F-755D-A645-AF8D-F198C7466152}" type="parTrans" cxnId="{A54C1AE9-8F22-2849-8873-7021043483AF}">
      <dgm:prSet/>
      <dgm:spPr/>
      <dgm:t>
        <a:bodyPr/>
        <a:lstStyle/>
        <a:p>
          <a:endParaRPr lang="en-US"/>
        </a:p>
      </dgm:t>
    </dgm:pt>
    <dgm:pt modelId="{24C4C4D5-BD5B-1B43-AFD6-224BAA89BBC1}" type="sibTrans" cxnId="{A54C1AE9-8F22-2849-8873-7021043483AF}">
      <dgm:prSet/>
      <dgm:spPr/>
      <dgm:t>
        <a:bodyPr/>
        <a:lstStyle/>
        <a:p>
          <a:endParaRPr lang="en-US"/>
        </a:p>
      </dgm:t>
    </dgm:pt>
    <dgm:pt modelId="{A0B11D33-30DB-5742-9664-FAFB5B4D4F8D}">
      <dgm:prSet/>
      <dgm:spPr/>
      <dgm:t>
        <a:bodyPr/>
        <a:lstStyle/>
        <a:p>
          <a:pPr>
            <a:buSzPts val="1000"/>
            <a:buFont typeface="Symbol" pitchFamily="2" charset="2"/>
            <a:buChar char=""/>
          </a:pPr>
          <a:r>
            <a:rPr lang="en-US"/>
            <a:t>Disease management rather than wellbeing support</a:t>
          </a:r>
        </a:p>
      </dgm:t>
    </dgm:pt>
    <dgm:pt modelId="{B973DA7C-7812-3F4F-B856-DE28705C9978}" type="parTrans" cxnId="{D4F46589-8E63-6F42-8C5D-904F5B3962B7}">
      <dgm:prSet/>
      <dgm:spPr/>
      <dgm:t>
        <a:bodyPr/>
        <a:lstStyle/>
        <a:p>
          <a:endParaRPr lang="en-US"/>
        </a:p>
      </dgm:t>
    </dgm:pt>
    <dgm:pt modelId="{945AC06B-4E2C-D04A-A5D4-3764891FDD6D}" type="sibTrans" cxnId="{D4F46589-8E63-6F42-8C5D-904F5B3962B7}">
      <dgm:prSet/>
      <dgm:spPr/>
      <dgm:t>
        <a:bodyPr/>
        <a:lstStyle/>
        <a:p>
          <a:endParaRPr lang="en-US"/>
        </a:p>
      </dgm:t>
    </dgm:pt>
    <dgm:pt modelId="{3879EE9B-3144-AD47-817C-41BCC11B3733}">
      <dgm:prSet/>
      <dgm:spPr/>
      <dgm:t>
        <a:bodyPr/>
        <a:lstStyle/>
        <a:p>
          <a:pPr>
            <a:buSzPts val="1000"/>
            <a:buFont typeface="Symbol" pitchFamily="2" charset="2"/>
            <a:buChar char=""/>
          </a:pPr>
          <a:r>
            <a:rPr lang="en-US" dirty="0"/>
            <a:t>Reactive rather than proactive approach</a:t>
          </a:r>
        </a:p>
      </dgm:t>
    </dgm:pt>
    <dgm:pt modelId="{7C89F8D9-3906-B04B-A710-0A2887105539}" type="parTrans" cxnId="{423492BE-BF9F-7646-9E3C-D844B4DAF489}">
      <dgm:prSet/>
      <dgm:spPr/>
      <dgm:t>
        <a:bodyPr/>
        <a:lstStyle/>
        <a:p>
          <a:endParaRPr lang="en-US"/>
        </a:p>
      </dgm:t>
    </dgm:pt>
    <dgm:pt modelId="{22F5CF70-19EF-744B-A4A3-6E24D52115AF}" type="sibTrans" cxnId="{423492BE-BF9F-7646-9E3C-D844B4DAF489}">
      <dgm:prSet/>
      <dgm:spPr/>
      <dgm:t>
        <a:bodyPr/>
        <a:lstStyle/>
        <a:p>
          <a:endParaRPr lang="en-US"/>
        </a:p>
      </dgm:t>
    </dgm:pt>
    <dgm:pt modelId="{C9EEF4B9-3696-B046-91FC-381B2884CDFF}" type="pres">
      <dgm:prSet presAssocID="{63071035-6F37-0F49-AA63-5E5D5193EEF4}" presName="Name0" presStyleCnt="0">
        <dgm:presLayoutVars>
          <dgm:dir/>
          <dgm:animLvl val="lvl"/>
          <dgm:resizeHandles val="exact"/>
        </dgm:presLayoutVars>
      </dgm:prSet>
      <dgm:spPr/>
    </dgm:pt>
    <dgm:pt modelId="{66F165EC-2545-E54B-9417-7276CA05070E}" type="pres">
      <dgm:prSet presAssocID="{547501BD-ECA2-A041-A931-B84F9151FC21}" presName="composite" presStyleCnt="0"/>
      <dgm:spPr/>
    </dgm:pt>
    <dgm:pt modelId="{1A0F1671-AFF0-5A49-9D0A-5A68964582C2}" type="pres">
      <dgm:prSet presAssocID="{547501BD-ECA2-A041-A931-B84F9151FC21}" presName="parTx" presStyleLbl="alignNode1" presStyleIdx="0" presStyleCnt="3">
        <dgm:presLayoutVars>
          <dgm:chMax val="0"/>
          <dgm:chPref val="0"/>
          <dgm:bulletEnabled val="1"/>
        </dgm:presLayoutVars>
      </dgm:prSet>
      <dgm:spPr/>
    </dgm:pt>
    <dgm:pt modelId="{0A4B47F9-4FAE-934D-9D1D-19948389DB05}" type="pres">
      <dgm:prSet presAssocID="{547501BD-ECA2-A041-A931-B84F9151FC21}" presName="desTx" presStyleLbl="alignAccFollowNode1" presStyleIdx="0" presStyleCnt="3">
        <dgm:presLayoutVars>
          <dgm:bulletEnabled val="1"/>
        </dgm:presLayoutVars>
      </dgm:prSet>
      <dgm:spPr/>
    </dgm:pt>
    <dgm:pt modelId="{7458F641-DE3E-9E42-A0A8-BC0939A31A31}" type="pres">
      <dgm:prSet presAssocID="{9C1F8450-CF55-1B44-A193-FDE346DBEBE7}" presName="space" presStyleCnt="0"/>
      <dgm:spPr/>
    </dgm:pt>
    <dgm:pt modelId="{AB332B4F-3A00-EA4D-97AA-B225BC487039}" type="pres">
      <dgm:prSet presAssocID="{B2499203-9C66-FF4B-9312-3EA403C628A5}" presName="composite" presStyleCnt="0"/>
      <dgm:spPr/>
    </dgm:pt>
    <dgm:pt modelId="{E4100662-DA2A-644D-AA2E-C11285405F5C}" type="pres">
      <dgm:prSet presAssocID="{B2499203-9C66-FF4B-9312-3EA403C628A5}" presName="parTx" presStyleLbl="alignNode1" presStyleIdx="1" presStyleCnt="3">
        <dgm:presLayoutVars>
          <dgm:chMax val="0"/>
          <dgm:chPref val="0"/>
          <dgm:bulletEnabled val="1"/>
        </dgm:presLayoutVars>
      </dgm:prSet>
      <dgm:spPr/>
    </dgm:pt>
    <dgm:pt modelId="{9B9DD647-7207-774F-BB60-6FC118C726CF}" type="pres">
      <dgm:prSet presAssocID="{B2499203-9C66-FF4B-9312-3EA403C628A5}" presName="desTx" presStyleLbl="alignAccFollowNode1" presStyleIdx="1" presStyleCnt="3">
        <dgm:presLayoutVars>
          <dgm:bulletEnabled val="1"/>
        </dgm:presLayoutVars>
      </dgm:prSet>
      <dgm:spPr/>
    </dgm:pt>
    <dgm:pt modelId="{CCD6745E-D7DE-D441-93CC-38CA3A492290}" type="pres">
      <dgm:prSet presAssocID="{0D86BB78-8485-D740-A15A-71080CFFD566}" presName="space" presStyleCnt="0"/>
      <dgm:spPr/>
    </dgm:pt>
    <dgm:pt modelId="{93819478-2EBF-CC42-AB60-6DEEA5122E5C}" type="pres">
      <dgm:prSet presAssocID="{D3B7F17C-131A-E54A-93DF-54285820917C}" presName="composite" presStyleCnt="0"/>
      <dgm:spPr/>
    </dgm:pt>
    <dgm:pt modelId="{5C69A206-F7DD-2C44-AB01-CDD47B1E31B3}" type="pres">
      <dgm:prSet presAssocID="{D3B7F17C-131A-E54A-93DF-54285820917C}" presName="parTx" presStyleLbl="alignNode1" presStyleIdx="2" presStyleCnt="3">
        <dgm:presLayoutVars>
          <dgm:chMax val="0"/>
          <dgm:chPref val="0"/>
          <dgm:bulletEnabled val="1"/>
        </dgm:presLayoutVars>
      </dgm:prSet>
      <dgm:spPr/>
    </dgm:pt>
    <dgm:pt modelId="{E76DEC9D-92EE-F24B-AB4C-79F1CEEF9C54}" type="pres">
      <dgm:prSet presAssocID="{D3B7F17C-131A-E54A-93DF-54285820917C}" presName="desTx" presStyleLbl="alignAccFollowNode1" presStyleIdx="2" presStyleCnt="3">
        <dgm:presLayoutVars>
          <dgm:bulletEnabled val="1"/>
        </dgm:presLayoutVars>
      </dgm:prSet>
      <dgm:spPr/>
    </dgm:pt>
  </dgm:ptLst>
  <dgm:cxnLst>
    <dgm:cxn modelId="{B49A9805-3B08-B94D-95F6-C44501AAA6F0}" srcId="{547501BD-ECA2-A041-A931-B84F9151FC21}" destId="{64593076-6A37-B749-9B51-DA4BCF2AC7EA}" srcOrd="2" destOrd="0" parTransId="{A3C53E65-4D1A-9E4C-9427-55DC0459620E}" sibTransId="{9C19D351-BF52-3E45-B8FC-6339A7AB00C9}"/>
    <dgm:cxn modelId="{E929520C-3FFA-0743-9329-0B6F098862AD}" type="presOf" srcId="{84AB9F80-4F40-D248-89C4-48EFE55BCDD1}" destId="{0A4B47F9-4FAE-934D-9D1D-19948389DB05}" srcOrd="0" destOrd="1" presId="urn:microsoft.com/office/officeart/2005/8/layout/hList1"/>
    <dgm:cxn modelId="{E542CF0E-1C16-E343-B736-D841C32237F7}" type="presOf" srcId="{16790AD1-DB11-284F-BEAF-C78FA613E726}" destId="{9B9DD647-7207-774F-BB60-6FC118C726CF}" srcOrd="0" destOrd="2" presId="urn:microsoft.com/office/officeart/2005/8/layout/hList1"/>
    <dgm:cxn modelId="{0F29B638-C301-4544-8348-28D02DCD7A6A}" srcId="{547501BD-ECA2-A041-A931-B84F9151FC21}" destId="{B7F55455-9D49-7945-B062-E45B35976050}" srcOrd="0" destOrd="0" parTransId="{951C42C6-80BD-A94F-A7D9-BB75472A227C}" sibTransId="{844E294B-1B1C-4740-AD51-89EB2D2EB6F9}"/>
    <dgm:cxn modelId="{73493B39-08F3-E948-953C-01C7F73B9D1C}" type="presOf" srcId="{63071035-6F37-0F49-AA63-5E5D5193EEF4}" destId="{C9EEF4B9-3696-B046-91FC-381B2884CDFF}" srcOrd="0" destOrd="0" presId="urn:microsoft.com/office/officeart/2005/8/layout/hList1"/>
    <dgm:cxn modelId="{551E3D40-19EB-544C-8313-1210C2A33FDE}" srcId="{B2499203-9C66-FF4B-9312-3EA403C628A5}" destId="{2B5EB0EA-EB5F-5F40-952C-D8FFB0FBA37D}" srcOrd="1" destOrd="0" parTransId="{A4239689-7284-5C40-8874-1915308E7140}" sibTransId="{8E0AD51C-9ADA-7441-9C6C-AF7C7CC759F9}"/>
    <dgm:cxn modelId="{AD95EC43-9689-6449-ABBD-59809CF183EC}" type="presOf" srcId="{A0B11D33-30DB-5742-9664-FAFB5B4D4F8D}" destId="{E76DEC9D-92EE-F24B-AB4C-79F1CEEF9C54}" srcOrd="0" destOrd="1" presId="urn:microsoft.com/office/officeart/2005/8/layout/hList1"/>
    <dgm:cxn modelId="{DD63284A-ED88-BA40-918A-CB6D11B37D04}" srcId="{63071035-6F37-0F49-AA63-5E5D5193EEF4}" destId="{547501BD-ECA2-A041-A931-B84F9151FC21}" srcOrd="0" destOrd="0" parTransId="{C594240D-AF3E-484A-BE51-ED51B67E9DA6}" sibTransId="{9C1F8450-CF55-1B44-A193-FDE346DBEBE7}"/>
    <dgm:cxn modelId="{6F2DC251-EB29-7D40-BCA8-AB19EF1797FD}" type="presOf" srcId="{3879EE9B-3144-AD47-817C-41BCC11B3733}" destId="{E76DEC9D-92EE-F24B-AB4C-79F1CEEF9C54}" srcOrd="0" destOrd="2" presId="urn:microsoft.com/office/officeart/2005/8/layout/hList1"/>
    <dgm:cxn modelId="{7DC2E756-1397-A447-92D8-AE872A015988}" type="presOf" srcId="{786CCE0E-8A19-0E41-8D44-EA3D4B432B87}" destId="{E76DEC9D-92EE-F24B-AB4C-79F1CEEF9C54}" srcOrd="0" destOrd="0" presId="urn:microsoft.com/office/officeart/2005/8/layout/hList1"/>
    <dgm:cxn modelId="{4017C45B-1E1E-A845-8171-E945306AC98B}" type="presOf" srcId="{B7F55455-9D49-7945-B062-E45B35976050}" destId="{0A4B47F9-4FAE-934D-9D1D-19948389DB05}" srcOrd="0" destOrd="0" presId="urn:microsoft.com/office/officeart/2005/8/layout/hList1"/>
    <dgm:cxn modelId="{E77C9C71-1F5D-5249-8059-CB4F077A4E48}" type="presOf" srcId="{2B5EB0EA-EB5F-5F40-952C-D8FFB0FBA37D}" destId="{9B9DD647-7207-774F-BB60-6FC118C726CF}" srcOrd="0" destOrd="1" presId="urn:microsoft.com/office/officeart/2005/8/layout/hList1"/>
    <dgm:cxn modelId="{D6A9CD7B-80E1-B242-A7D4-8031DD22542D}" type="presOf" srcId="{5E4AC18C-A63D-684A-97BF-FC40A9C44CD1}" destId="{9B9DD647-7207-774F-BB60-6FC118C726CF}" srcOrd="0" destOrd="0" presId="urn:microsoft.com/office/officeart/2005/8/layout/hList1"/>
    <dgm:cxn modelId="{B42A1388-8951-0141-9C22-E19A716BE245}" srcId="{547501BD-ECA2-A041-A931-B84F9151FC21}" destId="{84AB9F80-4F40-D248-89C4-48EFE55BCDD1}" srcOrd="1" destOrd="0" parTransId="{00E3EFAD-7221-2440-8138-C8022AC78432}" sibTransId="{71AE25C4-64C8-994B-AEB6-14B28602B62B}"/>
    <dgm:cxn modelId="{D4F46589-8E63-6F42-8C5D-904F5B3962B7}" srcId="{D3B7F17C-131A-E54A-93DF-54285820917C}" destId="{A0B11D33-30DB-5742-9664-FAFB5B4D4F8D}" srcOrd="1" destOrd="0" parTransId="{B973DA7C-7812-3F4F-B856-DE28705C9978}" sibTransId="{945AC06B-4E2C-D04A-A5D4-3764891FDD6D}"/>
    <dgm:cxn modelId="{BADB1A91-64E9-484B-865C-2BF6EE852BD2}" srcId="{63071035-6F37-0F49-AA63-5E5D5193EEF4}" destId="{B2499203-9C66-FF4B-9312-3EA403C628A5}" srcOrd="1" destOrd="0" parTransId="{F9B793F3-6B6B-3D45-BB29-36E374AC07DC}" sibTransId="{0D86BB78-8485-D740-A15A-71080CFFD566}"/>
    <dgm:cxn modelId="{56BDAE91-D434-EE4E-A998-F36D39BFD044}" type="presOf" srcId="{547501BD-ECA2-A041-A931-B84F9151FC21}" destId="{1A0F1671-AFF0-5A49-9D0A-5A68964582C2}" srcOrd="0" destOrd="0" presId="urn:microsoft.com/office/officeart/2005/8/layout/hList1"/>
    <dgm:cxn modelId="{AB8F34AE-634B-8F4E-AA34-B8181767CCCB}" srcId="{B2499203-9C66-FF4B-9312-3EA403C628A5}" destId="{5E4AC18C-A63D-684A-97BF-FC40A9C44CD1}" srcOrd="0" destOrd="0" parTransId="{C675A687-ADAE-D24E-9003-3A3E29B200D5}" sibTransId="{2DFAEC57-1278-D145-B309-5F407F646177}"/>
    <dgm:cxn modelId="{423492BE-BF9F-7646-9E3C-D844B4DAF489}" srcId="{D3B7F17C-131A-E54A-93DF-54285820917C}" destId="{3879EE9B-3144-AD47-817C-41BCC11B3733}" srcOrd="2" destOrd="0" parTransId="{7C89F8D9-3906-B04B-A710-0A2887105539}" sibTransId="{22F5CF70-19EF-744B-A4A3-6E24D52115AF}"/>
    <dgm:cxn modelId="{8C53F4C4-420B-5046-B799-F0CAC11BEDF0}" type="presOf" srcId="{64593076-6A37-B749-9B51-DA4BCF2AC7EA}" destId="{0A4B47F9-4FAE-934D-9D1D-19948389DB05}" srcOrd="0" destOrd="2" presId="urn:microsoft.com/office/officeart/2005/8/layout/hList1"/>
    <dgm:cxn modelId="{179268C5-25EB-D14E-82B2-006C1B85A00A}" srcId="{63071035-6F37-0F49-AA63-5E5D5193EEF4}" destId="{D3B7F17C-131A-E54A-93DF-54285820917C}" srcOrd="2" destOrd="0" parTransId="{F6A0A779-DCAD-A540-B4FA-B1935C439B02}" sibTransId="{8FEDCEC9-4F7F-314D-AF0F-DBD381927C6B}"/>
    <dgm:cxn modelId="{79271CDB-2A6B-8547-8A91-1A3AEDF54F7F}" type="presOf" srcId="{D3B7F17C-131A-E54A-93DF-54285820917C}" destId="{5C69A206-F7DD-2C44-AB01-CDD47B1E31B3}" srcOrd="0" destOrd="0" presId="urn:microsoft.com/office/officeart/2005/8/layout/hList1"/>
    <dgm:cxn modelId="{A54C1AE9-8F22-2849-8873-7021043483AF}" srcId="{B2499203-9C66-FF4B-9312-3EA403C628A5}" destId="{16790AD1-DB11-284F-BEAF-C78FA613E726}" srcOrd="2" destOrd="0" parTransId="{4F2C696F-755D-A645-AF8D-F198C7466152}" sibTransId="{24C4C4D5-BD5B-1B43-AFD6-224BAA89BBC1}"/>
    <dgm:cxn modelId="{484C50F1-68E6-6144-BBC5-ECEA0DA12A4F}" type="presOf" srcId="{B2499203-9C66-FF4B-9312-3EA403C628A5}" destId="{E4100662-DA2A-644D-AA2E-C11285405F5C}" srcOrd="0" destOrd="0" presId="urn:microsoft.com/office/officeart/2005/8/layout/hList1"/>
    <dgm:cxn modelId="{817E5EF6-7CB1-204B-AF66-FC3233F5DE33}" srcId="{D3B7F17C-131A-E54A-93DF-54285820917C}" destId="{786CCE0E-8A19-0E41-8D44-EA3D4B432B87}" srcOrd="0" destOrd="0" parTransId="{9970B077-C5E0-D74D-AE38-F38F9BDC878A}" sibTransId="{480B8617-94CD-FA4E-85C3-D4242B8E027E}"/>
    <dgm:cxn modelId="{1AC53050-AC5B-6641-99D3-D8E847B72926}" type="presParOf" srcId="{C9EEF4B9-3696-B046-91FC-381B2884CDFF}" destId="{66F165EC-2545-E54B-9417-7276CA05070E}" srcOrd="0" destOrd="0" presId="urn:microsoft.com/office/officeart/2005/8/layout/hList1"/>
    <dgm:cxn modelId="{DD9DFC8A-5AE6-F247-9546-30293F0B3510}" type="presParOf" srcId="{66F165EC-2545-E54B-9417-7276CA05070E}" destId="{1A0F1671-AFF0-5A49-9D0A-5A68964582C2}" srcOrd="0" destOrd="0" presId="urn:microsoft.com/office/officeart/2005/8/layout/hList1"/>
    <dgm:cxn modelId="{A7109119-3C89-C64B-A933-A70CC930878C}" type="presParOf" srcId="{66F165EC-2545-E54B-9417-7276CA05070E}" destId="{0A4B47F9-4FAE-934D-9D1D-19948389DB05}" srcOrd="1" destOrd="0" presId="urn:microsoft.com/office/officeart/2005/8/layout/hList1"/>
    <dgm:cxn modelId="{6E9380D5-3C12-7646-B85A-B2DD406EDE1A}" type="presParOf" srcId="{C9EEF4B9-3696-B046-91FC-381B2884CDFF}" destId="{7458F641-DE3E-9E42-A0A8-BC0939A31A31}" srcOrd="1" destOrd="0" presId="urn:microsoft.com/office/officeart/2005/8/layout/hList1"/>
    <dgm:cxn modelId="{0ECFB191-F6FA-8948-8D8F-69DB226D8AF8}" type="presParOf" srcId="{C9EEF4B9-3696-B046-91FC-381B2884CDFF}" destId="{AB332B4F-3A00-EA4D-97AA-B225BC487039}" srcOrd="2" destOrd="0" presId="urn:microsoft.com/office/officeart/2005/8/layout/hList1"/>
    <dgm:cxn modelId="{5413B544-E826-474A-BFA1-CCAE31790A6E}" type="presParOf" srcId="{AB332B4F-3A00-EA4D-97AA-B225BC487039}" destId="{E4100662-DA2A-644D-AA2E-C11285405F5C}" srcOrd="0" destOrd="0" presId="urn:microsoft.com/office/officeart/2005/8/layout/hList1"/>
    <dgm:cxn modelId="{CD03C626-4E1E-6A4F-9BF7-A2908E5F94E6}" type="presParOf" srcId="{AB332B4F-3A00-EA4D-97AA-B225BC487039}" destId="{9B9DD647-7207-774F-BB60-6FC118C726CF}" srcOrd="1" destOrd="0" presId="urn:microsoft.com/office/officeart/2005/8/layout/hList1"/>
    <dgm:cxn modelId="{1C445B7A-9768-E240-9EC9-BA664A4E3F50}" type="presParOf" srcId="{C9EEF4B9-3696-B046-91FC-381B2884CDFF}" destId="{CCD6745E-D7DE-D441-93CC-38CA3A492290}" srcOrd="3" destOrd="0" presId="urn:microsoft.com/office/officeart/2005/8/layout/hList1"/>
    <dgm:cxn modelId="{83B6F910-19C3-8848-90BB-EB6ACCAB5180}" type="presParOf" srcId="{C9EEF4B9-3696-B046-91FC-381B2884CDFF}" destId="{93819478-2EBF-CC42-AB60-6DEEA5122E5C}" srcOrd="4" destOrd="0" presId="urn:microsoft.com/office/officeart/2005/8/layout/hList1"/>
    <dgm:cxn modelId="{5C63F3F7-23ED-8B48-80BF-18839850FA4E}" type="presParOf" srcId="{93819478-2EBF-CC42-AB60-6DEEA5122E5C}" destId="{5C69A206-F7DD-2C44-AB01-CDD47B1E31B3}" srcOrd="0" destOrd="0" presId="urn:microsoft.com/office/officeart/2005/8/layout/hList1"/>
    <dgm:cxn modelId="{C6B372F2-6A79-3D44-B008-49944C90C3D9}" type="presParOf" srcId="{93819478-2EBF-CC42-AB60-6DEEA5122E5C}" destId="{E76DEC9D-92EE-F24B-AB4C-79F1CEEF9C5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40EE68-A811-7249-A24A-85A922876338}"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US"/>
        </a:p>
      </dgm:t>
    </dgm:pt>
    <dgm:pt modelId="{7723F709-2EAE-F147-A903-C39C857D1908}">
      <dgm:prSet phldrT="[Text]" custT="1"/>
      <dgm:spPr/>
      <dgm:t>
        <a:bodyPr/>
        <a:lstStyle/>
        <a:p>
          <a:r>
            <a:rPr lang="en-US" sz="1800"/>
            <a:t>Barriers</a:t>
          </a:r>
        </a:p>
      </dgm:t>
    </dgm:pt>
    <dgm:pt modelId="{C8A49D92-F5E2-B945-95F8-A62894709F2A}" type="parTrans" cxnId="{E461B041-4947-8F43-9F15-4C15519A7233}">
      <dgm:prSet/>
      <dgm:spPr/>
      <dgm:t>
        <a:bodyPr/>
        <a:lstStyle/>
        <a:p>
          <a:endParaRPr lang="en-US" sz="1400"/>
        </a:p>
      </dgm:t>
    </dgm:pt>
    <dgm:pt modelId="{49C3E91C-CA38-234A-B08F-DE5666B0B681}" type="sibTrans" cxnId="{E461B041-4947-8F43-9F15-4C15519A7233}">
      <dgm:prSet/>
      <dgm:spPr/>
      <dgm:t>
        <a:bodyPr/>
        <a:lstStyle/>
        <a:p>
          <a:endParaRPr lang="en-US" sz="1400"/>
        </a:p>
      </dgm:t>
    </dgm:pt>
    <dgm:pt modelId="{2F0E3C7E-5402-9945-BA95-841403227C66}">
      <dgm:prSet phldrT="[Text]" custT="1"/>
      <dgm:spPr/>
      <dgm:t>
        <a:bodyPr/>
        <a:lstStyle/>
        <a:p>
          <a:pPr>
            <a:buSzPts val="1000"/>
            <a:buFont typeface="Symbol" pitchFamily="2" charset="2"/>
            <a:buChar char=""/>
          </a:pPr>
          <a:r>
            <a:rPr lang="en-US" sz="2000" dirty="0"/>
            <a:t>Digital literacy assumed from the start</a:t>
          </a:r>
        </a:p>
      </dgm:t>
    </dgm:pt>
    <dgm:pt modelId="{070E064F-4416-8F42-B9CD-D386BF045A06}" type="parTrans" cxnId="{CA979A38-E4D7-9B47-BAAE-7492605A34E9}">
      <dgm:prSet/>
      <dgm:spPr/>
      <dgm:t>
        <a:bodyPr/>
        <a:lstStyle/>
        <a:p>
          <a:endParaRPr lang="en-US" sz="1400"/>
        </a:p>
      </dgm:t>
    </dgm:pt>
    <dgm:pt modelId="{798ED7B6-FCFD-9843-995A-9844D7FF76C6}" type="sibTrans" cxnId="{CA979A38-E4D7-9B47-BAAE-7492605A34E9}">
      <dgm:prSet/>
      <dgm:spPr/>
      <dgm:t>
        <a:bodyPr/>
        <a:lstStyle/>
        <a:p>
          <a:endParaRPr lang="en-US" sz="1400"/>
        </a:p>
      </dgm:t>
    </dgm:pt>
    <dgm:pt modelId="{272563FF-4610-4043-AC60-8B196AA27813}">
      <dgm:prSet custT="1"/>
      <dgm:spPr/>
      <dgm:t>
        <a:bodyPr/>
        <a:lstStyle/>
        <a:p>
          <a:pPr>
            <a:buSzPts val="1000"/>
            <a:buFont typeface="Symbol" pitchFamily="2" charset="2"/>
            <a:buChar char=""/>
          </a:pPr>
          <a:r>
            <a:rPr lang="en-US" sz="2000"/>
            <a:t>Inadequate onboarding processes</a:t>
          </a:r>
        </a:p>
      </dgm:t>
    </dgm:pt>
    <dgm:pt modelId="{45CE9DC0-11D1-A849-A888-1C0E4957107C}" type="parTrans" cxnId="{0929A961-55A2-BC47-84C4-F890BBDB6931}">
      <dgm:prSet/>
      <dgm:spPr/>
      <dgm:t>
        <a:bodyPr/>
        <a:lstStyle/>
        <a:p>
          <a:endParaRPr lang="en-US" sz="1400"/>
        </a:p>
      </dgm:t>
    </dgm:pt>
    <dgm:pt modelId="{E23EA529-7236-EC46-AB4E-0A0C145EE042}" type="sibTrans" cxnId="{0929A961-55A2-BC47-84C4-F890BBDB6931}">
      <dgm:prSet/>
      <dgm:spPr/>
      <dgm:t>
        <a:bodyPr/>
        <a:lstStyle/>
        <a:p>
          <a:endParaRPr lang="en-US" sz="1400"/>
        </a:p>
      </dgm:t>
    </dgm:pt>
    <dgm:pt modelId="{DC59E3EE-FEB9-F649-904C-A77931F43557}">
      <dgm:prSet custT="1"/>
      <dgm:spPr/>
      <dgm:t>
        <a:bodyPr/>
        <a:lstStyle/>
        <a:p>
          <a:pPr>
            <a:buSzPts val="1000"/>
            <a:buFont typeface="Symbol" pitchFamily="2" charset="2"/>
            <a:buChar char=""/>
          </a:pPr>
          <a:r>
            <a:rPr lang="en-US" sz="2000"/>
            <a:t>Rapid technology evolution without learning pathways</a:t>
          </a:r>
        </a:p>
      </dgm:t>
    </dgm:pt>
    <dgm:pt modelId="{2DE5BAF9-96E4-1C4A-8AD4-F4B703F8C24B}" type="parTrans" cxnId="{914BD918-21B9-FD43-A0F9-CCE39E87D63C}">
      <dgm:prSet/>
      <dgm:spPr/>
      <dgm:t>
        <a:bodyPr/>
        <a:lstStyle/>
        <a:p>
          <a:endParaRPr lang="en-US" sz="1400"/>
        </a:p>
      </dgm:t>
    </dgm:pt>
    <dgm:pt modelId="{12529D84-BB6D-A440-8917-F696F7006B9E}" type="sibTrans" cxnId="{914BD918-21B9-FD43-A0F9-CCE39E87D63C}">
      <dgm:prSet/>
      <dgm:spPr/>
      <dgm:t>
        <a:bodyPr/>
        <a:lstStyle/>
        <a:p>
          <a:endParaRPr lang="en-US" sz="1400"/>
        </a:p>
      </dgm:t>
    </dgm:pt>
    <dgm:pt modelId="{F3CEEA9D-C9CA-6E42-912F-242FD1C61C84}">
      <dgm:prSet custT="1"/>
      <dgm:spPr/>
      <dgm:t>
        <a:bodyPr/>
        <a:lstStyle/>
        <a:p>
          <a:pPr>
            <a:buNone/>
          </a:pPr>
          <a:r>
            <a:rPr lang="en-US" sz="2000" dirty="0"/>
            <a:t>No support for keeping pace with change</a:t>
          </a:r>
        </a:p>
      </dgm:t>
    </dgm:pt>
    <dgm:pt modelId="{8D90397C-E3E7-3343-8472-B48E2A664BD8}" type="parTrans" cxnId="{B48C6FF8-C58B-4544-B442-9B8842B48290}">
      <dgm:prSet/>
      <dgm:spPr/>
      <dgm:t>
        <a:bodyPr/>
        <a:lstStyle/>
        <a:p>
          <a:endParaRPr lang="en-US" sz="1400"/>
        </a:p>
      </dgm:t>
    </dgm:pt>
    <dgm:pt modelId="{4FE07AC9-422D-CD4E-980B-C943CD6442D0}" type="sibTrans" cxnId="{B48C6FF8-C58B-4544-B442-9B8842B48290}">
      <dgm:prSet/>
      <dgm:spPr/>
      <dgm:t>
        <a:bodyPr/>
        <a:lstStyle/>
        <a:p>
          <a:endParaRPr lang="en-US" sz="1400"/>
        </a:p>
      </dgm:t>
    </dgm:pt>
    <dgm:pt modelId="{24A52530-DE05-BF4F-86C6-655FC79C17A0}" type="pres">
      <dgm:prSet presAssocID="{0040EE68-A811-7249-A24A-85A922876338}" presName="Name0" presStyleCnt="0">
        <dgm:presLayoutVars>
          <dgm:chPref val="1"/>
          <dgm:dir/>
          <dgm:animOne val="branch"/>
          <dgm:animLvl val="lvl"/>
          <dgm:resizeHandles val="exact"/>
        </dgm:presLayoutVars>
      </dgm:prSet>
      <dgm:spPr/>
    </dgm:pt>
    <dgm:pt modelId="{3264E58D-D593-D44B-9A64-4ED3F891877C}" type="pres">
      <dgm:prSet presAssocID="{7723F709-2EAE-F147-A903-C39C857D1908}" presName="root1" presStyleCnt="0"/>
      <dgm:spPr/>
    </dgm:pt>
    <dgm:pt modelId="{4DD32BBD-E98E-544D-9D6A-61B8B2F5C6E3}" type="pres">
      <dgm:prSet presAssocID="{7723F709-2EAE-F147-A903-C39C857D1908}" presName="LevelOneTextNode" presStyleLbl="node0" presStyleIdx="0" presStyleCnt="1">
        <dgm:presLayoutVars>
          <dgm:chPref val="3"/>
        </dgm:presLayoutVars>
      </dgm:prSet>
      <dgm:spPr/>
    </dgm:pt>
    <dgm:pt modelId="{80887F48-1669-CD4A-B3A4-63211209B333}" type="pres">
      <dgm:prSet presAssocID="{7723F709-2EAE-F147-A903-C39C857D1908}" presName="level2hierChild" presStyleCnt="0"/>
      <dgm:spPr/>
    </dgm:pt>
    <dgm:pt modelId="{319AEEFA-355B-9940-9546-6DCA7AF5E539}" type="pres">
      <dgm:prSet presAssocID="{070E064F-4416-8F42-B9CD-D386BF045A06}" presName="conn2-1" presStyleLbl="parChTrans1D2" presStyleIdx="0" presStyleCnt="4"/>
      <dgm:spPr/>
    </dgm:pt>
    <dgm:pt modelId="{67902D8C-1D27-1349-884C-A7D1FA21B4EA}" type="pres">
      <dgm:prSet presAssocID="{070E064F-4416-8F42-B9CD-D386BF045A06}" presName="connTx" presStyleLbl="parChTrans1D2" presStyleIdx="0" presStyleCnt="4"/>
      <dgm:spPr/>
    </dgm:pt>
    <dgm:pt modelId="{E226C7F2-E96D-2D47-803E-A053A89BCC4A}" type="pres">
      <dgm:prSet presAssocID="{2F0E3C7E-5402-9945-BA95-841403227C66}" presName="root2" presStyleCnt="0"/>
      <dgm:spPr/>
    </dgm:pt>
    <dgm:pt modelId="{A061061C-D4D4-0A49-99DE-EDC52BD674D4}" type="pres">
      <dgm:prSet presAssocID="{2F0E3C7E-5402-9945-BA95-841403227C66}" presName="LevelTwoTextNode" presStyleLbl="node2" presStyleIdx="0" presStyleCnt="4">
        <dgm:presLayoutVars>
          <dgm:chPref val="3"/>
        </dgm:presLayoutVars>
      </dgm:prSet>
      <dgm:spPr/>
    </dgm:pt>
    <dgm:pt modelId="{B8E8A42D-F709-B84A-83F1-F170CCBA233C}" type="pres">
      <dgm:prSet presAssocID="{2F0E3C7E-5402-9945-BA95-841403227C66}" presName="level3hierChild" presStyleCnt="0"/>
      <dgm:spPr/>
    </dgm:pt>
    <dgm:pt modelId="{FEB5993C-6E6D-4E42-816F-FCA2788E08BB}" type="pres">
      <dgm:prSet presAssocID="{45CE9DC0-11D1-A849-A888-1C0E4957107C}" presName="conn2-1" presStyleLbl="parChTrans1D2" presStyleIdx="1" presStyleCnt="4"/>
      <dgm:spPr/>
    </dgm:pt>
    <dgm:pt modelId="{2467AB15-CB51-EB4F-BA5B-E16EA3C8CF32}" type="pres">
      <dgm:prSet presAssocID="{45CE9DC0-11D1-A849-A888-1C0E4957107C}" presName="connTx" presStyleLbl="parChTrans1D2" presStyleIdx="1" presStyleCnt="4"/>
      <dgm:spPr/>
    </dgm:pt>
    <dgm:pt modelId="{0065B007-EDDF-394F-ACFC-C2B7EE82091F}" type="pres">
      <dgm:prSet presAssocID="{272563FF-4610-4043-AC60-8B196AA27813}" presName="root2" presStyleCnt="0"/>
      <dgm:spPr/>
    </dgm:pt>
    <dgm:pt modelId="{00316C26-07D4-3E40-81FA-01B7367A3FB4}" type="pres">
      <dgm:prSet presAssocID="{272563FF-4610-4043-AC60-8B196AA27813}" presName="LevelTwoTextNode" presStyleLbl="node2" presStyleIdx="1" presStyleCnt="4">
        <dgm:presLayoutVars>
          <dgm:chPref val="3"/>
        </dgm:presLayoutVars>
      </dgm:prSet>
      <dgm:spPr/>
    </dgm:pt>
    <dgm:pt modelId="{09A87A23-C4C0-404D-8B98-A48F24C6BAD3}" type="pres">
      <dgm:prSet presAssocID="{272563FF-4610-4043-AC60-8B196AA27813}" presName="level3hierChild" presStyleCnt="0"/>
      <dgm:spPr/>
    </dgm:pt>
    <dgm:pt modelId="{8DD831C5-D456-4B41-BE70-3AAC2B042B9A}" type="pres">
      <dgm:prSet presAssocID="{2DE5BAF9-96E4-1C4A-8AD4-F4B703F8C24B}" presName="conn2-1" presStyleLbl="parChTrans1D2" presStyleIdx="2" presStyleCnt="4"/>
      <dgm:spPr/>
    </dgm:pt>
    <dgm:pt modelId="{55F34F01-835A-444E-9057-76A1666E004B}" type="pres">
      <dgm:prSet presAssocID="{2DE5BAF9-96E4-1C4A-8AD4-F4B703F8C24B}" presName="connTx" presStyleLbl="parChTrans1D2" presStyleIdx="2" presStyleCnt="4"/>
      <dgm:spPr/>
    </dgm:pt>
    <dgm:pt modelId="{BCFA24FD-007C-1F46-A02B-436DC4ADBBC9}" type="pres">
      <dgm:prSet presAssocID="{DC59E3EE-FEB9-F649-904C-A77931F43557}" presName="root2" presStyleCnt="0"/>
      <dgm:spPr/>
    </dgm:pt>
    <dgm:pt modelId="{127BCFD0-696D-7342-9537-1AC26AFE4CE9}" type="pres">
      <dgm:prSet presAssocID="{DC59E3EE-FEB9-F649-904C-A77931F43557}" presName="LevelTwoTextNode" presStyleLbl="node2" presStyleIdx="2" presStyleCnt="4">
        <dgm:presLayoutVars>
          <dgm:chPref val="3"/>
        </dgm:presLayoutVars>
      </dgm:prSet>
      <dgm:spPr/>
    </dgm:pt>
    <dgm:pt modelId="{5EE0D9A4-677B-0848-8B6A-8E2321FB8407}" type="pres">
      <dgm:prSet presAssocID="{DC59E3EE-FEB9-F649-904C-A77931F43557}" presName="level3hierChild" presStyleCnt="0"/>
      <dgm:spPr/>
    </dgm:pt>
    <dgm:pt modelId="{321F4A46-A2FC-3F48-974E-2AC65258FF9C}" type="pres">
      <dgm:prSet presAssocID="{8D90397C-E3E7-3343-8472-B48E2A664BD8}" presName="conn2-1" presStyleLbl="parChTrans1D2" presStyleIdx="3" presStyleCnt="4"/>
      <dgm:spPr/>
    </dgm:pt>
    <dgm:pt modelId="{14CCED62-A9F5-D24D-907F-6D052E9093F1}" type="pres">
      <dgm:prSet presAssocID="{8D90397C-E3E7-3343-8472-B48E2A664BD8}" presName="connTx" presStyleLbl="parChTrans1D2" presStyleIdx="3" presStyleCnt="4"/>
      <dgm:spPr/>
    </dgm:pt>
    <dgm:pt modelId="{5118CC27-5D12-604B-A529-402376F48653}" type="pres">
      <dgm:prSet presAssocID="{F3CEEA9D-C9CA-6E42-912F-242FD1C61C84}" presName="root2" presStyleCnt="0"/>
      <dgm:spPr/>
    </dgm:pt>
    <dgm:pt modelId="{BDAE8061-C7E2-F846-9C8E-7CD383A7F84F}" type="pres">
      <dgm:prSet presAssocID="{F3CEEA9D-C9CA-6E42-912F-242FD1C61C84}" presName="LevelTwoTextNode" presStyleLbl="node2" presStyleIdx="3" presStyleCnt="4">
        <dgm:presLayoutVars>
          <dgm:chPref val="3"/>
        </dgm:presLayoutVars>
      </dgm:prSet>
      <dgm:spPr/>
    </dgm:pt>
    <dgm:pt modelId="{972191B7-F643-3B40-B52F-C6E4ADC1F39F}" type="pres">
      <dgm:prSet presAssocID="{F3CEEA9D-C9CA-6E42-912F-242FD1C61C84}" presName="level3hierChild" presStyleCnt="0"/>
      <dgm:spPr/>
    </dgm:pt>
  </dgm:ptLst>
  <dgm:cxnLst>
    <dgm:cxn modelId="{C3FA240C-D9A8-5D4C-B585-5375C47064CF}" type="presOf" srcId="{272563FF-4610-4043-AC60-8B196AA27813}" destId="{00316C26-07D4-3E40-81FA-01B7367A3FB4}" srcOrd="0" destOrd="0" presId="urn:microsoft.com/office/officeart/2008/layout/HorizontalMultiLevelHierarchy"/>
    <dgm:cxn modelId="{71305214-C889-A44A-8BCA-796364BE323B}" type="presOf" srcId="{7723F709-2EAE-F147-A903-C39C857D1908}" destId="{4DD32BBD-E98E-544D-9D6A-61B8B2F5C6E3}" srcOrd="0" destOrd="0" presId="urn:microsoft.com/office/officeart/2008/layout/HorizontalMultiLevelHierarchy"/>
    <dgm:cxn modelId="{914BD918-21B9-FD43-A0F9-CCE39E87D63C}" srcId="{7723F709-2EAE-F147-A903-C39C857D1908}" destId="{DC59E3EE-FEB9-F649-904C-A77931F43557}" srcOrd="2" destOrd="0" parTransId="{2DE5BAF9-96E4-1C4A-8AD4-F4B703F8C24B}" sibTransId="{12529D84-BB6D-A440-8917-F696F7006B9E}"/>
    <dgm:cxn modelId="{3F46C02F-F86F-A04A-8B79-0C3072E87A0E}" type="presOf" srcId="{070E064F-4416-8F42-B9CD-D386BF045A06}" destId="{67902D8C-1D27-1349-884C-A7D1FA21B4EA}" srcOrd="1" destOrd="0" presId="urn:microsoft.com/office/officeart/2008/layout/HorizontalMultiLevelHierarchy"/>
    <dgm:cxn modelId="{CA979A38-E4D7-9B47-BAAE-7492605A34E9}" srcId="{7723F709-2EAE-F147-A903-C39C857D1908}" destId="{2F0E3C7E-5402-9945-BA95-841403227C66}" srcOrd="0" destOrd="0" parTransId="{070E064F-4416-8F42-B9CD-D386BF045A06}" sibTransId="{798ED7B6-FCFD-9843-995A-9844D7FF76C6}"/>
    <dgm:cxn modelId="{E461B041-4947-8F43-9F15-4C15519A7233}" srcId="{0040EE68-A811-7249-A24A-85A922876338}" destId="{7723F709-2EAE-F147-A903-C39C857D1908}" srcOrd="0" destOrd="0" parTransId="{C8A49D92-F5E2-B945-95F8-A62894709F2A}" sibTransId="{49C3E91C-CA38-234A-B08F-DE5666B0B681}"/>
    <dgm:cxn modelId="{8161AA43-16AE-B141-AD1E-F0C1DACC16C8}" type="presOf" srcId="{8D90397C-E3E7-3343-8472-B48E2A664BD8}" destId="{14CCED62-A9F5-D24D-907F-6D052E9093F1}" srcOrd="1" destOrd="0" presId="urn:microsoft.com/office/officeart/2008/layout/HorizontalMultiLevelHierarchy"/>
    <dgm:cxn modelId="{0929A961-55A2-BC47-84C4-F890BBDB6931}" srcId="{7723F709-2EAE-F147-A903-C39C857D1908}" destId="{272563FF-4610-4043-AC60-8B196AA27813}" srcOrd="1" destOrd="0" parTransId="{45CE9DC0-11D1-A849-A888-1C0E4957107C}" sibTransId="{E23EA529-7236-EC46-AB4E-0A0C145EE042}"/>
    <dgm:cxn modelId="{48063F6C-FEF9-1340-BC69-02A4C6CA03A1}" type="presOf" srcId="{2DE5BAF9-96E4-1C4A-8AD4-F4B703F8C24B}" destId="{55F34F01-835A-444E-9057-76A1666E004B}" srcOrd="1" destOrd="0" presId="urn:microsoft.com/office/officeart/2008/layout/HorizontalMultiLevelHierarchy"/>
    <dgm:cxn modelId="{27D32A85-0594-E14A-9A7A-1C69D831F70E}" type="presOf" srcId="{DC59E3EE-FEB9-F649-904C-A77931F43557}" destId="{127BCFD0-696D-7342-9537-1AC26AFE4CE9}" srcOrd="0" destOrd="0" presId="urn:microsoft.com/office/officeart/2008/layout/HorizontalMultiLevelHierarchy"/>
    <dgm:cxn modelId="{8CA55C86-8903-9C4E-ABA6-DEEE3DEC4C55}" type="presOf" srcId="{45CE9DC0-11D1-A849-A888-1C0E4957107C}" destId="{2467AB15-CB51-EB4F-BA5B-E16EA3C8CF32}" srcOrd="1" destOrd="0" presId="urn:microsoft.com/office/officeart/2008/layout/HorizontalMultiLevelHierarchy"/>
    <dgm:cxn modelId="{F7BC6D8B-CA7A-C24B-B615-2A3E4F161580}" type="presOf" srcId="{070E064F-4416-8F42-B9CD-D386BF045A06}" destId="{319AEEFA-355B-9940-9546-6DCA7AF5E539}" srcOrd="0" destOrd="0" presId="urn:microsoft.com/office/officeart/2008/layout/HorizontalMultiLevelHierarchy"/>
    <dgm:cxn modelId="{C5D537A8-3B3A-C14D-BC13-F6C75723ABBA}" type="presOf" srcId="{8D90397C-E3E7-3343-8472-B48E2A664BD8}" destId="{321F4A46-A2FC-3F48-974E-2AC65258FF9C}" srcOrd="0" destOrd="0" presId="urn:microsoft.com/office/officeart/2008/layout/HorizontalMultiLevelHierarchy"/>
    <dgm:cxn modelId="{3BFB73C8-943B-D449-8D13-A0B65A9314C6}" type="presOf" srcId="{0040EE68-A811-7249-A24A-85A922876338}" destId="{24A52530-DE05-BF4F-86C6-655FC79C17A0}" srcOrd="0" destOrd="0" presId="urn:microsoft.com/office/officeart/2008/layout/HorizontalMultiLevelHierarchy"/>
    <dgm:cxn modelId="{3F2E03CF-7291-9742-AA37-649BCE2C2ABA}" type="presOf" srcId="{2F0E3C7E-5402-9945-BA95-841403227C66}" destId="{A061061C-D4D4-0A49-99DE-EDC52BD674D4}" srcOrd="0" destOrd="0" presId="urn:microsoft.com/office/officeart/2008/layout/HorizontalMultiLevelHierarchy"/>
    <dgm:cxn modelId="{48A6DCF3-7E1F-494E-977F-81D49C6DB4F3}" type="presOf" srcId="{45CE9DC0-11D1-A849-A888-1C0E4957107C}" destId="{FEB5993C-6E6D-4E42-816F-FCA2788E08BB}" srcOrd="0" destOrd="0" presId="urn:microsoft.com/office/officeart/2008/layout/HorizontalMultiLevelHierarchy"/>
    <dgm:cxn modelId="{049100F8-DCF8-9342-BC50-D1BB85031CFC}" type="presOf" srcId="{F3CEEA9D-C9CA-6E42-912F-242FD1C61C84}" destId="{BDAE8061-C7E2-F846-9C8E-7CD383A7F84F}" srcOrd="0" destOrd="0" presId="urn:microsoft.com/office/officeart/2008/layout/HorizontalMultiLevelHierarchy"/>
    <dgm:cxn modelId="{B48C6FF8-C58B-4544-B442-9B8842B48290}" srcId="{7723F709-2EAE-F147-A903-C39C857D1908}" destId="{F3CEEA9D-C9CA-6E42-912F-242FD1C61C84}" srcOrd="3" destOrd="0" parTransId="{8D90397C-E3E7-3343-8472-B48E2A664BD8}" sibTransId="{4FE07AC9-422D-CD4E-980B-C943CD6442D0}"/>
    <dgm:cxn modelId="{758360FA-F911-0147-A997-0F66579F2E74}" type="presOf" srcId="{2DE5BAF9-96E4-1C4A-8AD4-F4B703F8C24B}" destId="{8DD831C5-D456-4B41-BE70-3AAC2B042B9A}" srcOrd="0" destOrd="0" presId="urn:microsoft.com/office/officeart/2008/layout/HorizontalMultiLevelHierarchy"/>
    <dgm:cxn modelId="{D642EB63-8E1C-E441-B63D-6C19BDF43652}" type="presParOf" srcId="{24A52530-DE05-BF4F-86C6-655FC79C17A0}" destId="{3264E58D-D593-D44B-9A64-4ED3F891877C}" srcOrd="0" destOrd="0" presId="urn:microsoft.com/office/officeart/2008/layout/HorizontalMultiLevelHierarchy"/>
    <dgm:cxn modelId="{BEA7ABCA-BF90-504B-B9EA-CE0438C681BB}" type="presParOf" srcId="{3264E58D-D593-D44B-9A64-4ED3F891877C}" destId="{4DD32BBD-E98E-544D-9D6A-61B8B2F5C6E3}" srcOrd="0" destOrd="0" presId="urn:microsoft.com/office/officeart/2008/layout/HorizontalMultiLevelHierarchy"/>
    <dgm:cxn modelId="{38978ADD-5D64-894D-BF8D-821AA55EBEC0}" type="presParOf" srcId="{3264E58D-D593-D44B-9A64-4ED3F891877C}" destId="{80887F48-1669-CD4A-B3A4-63211209B333}" srcOrd="1" destOrd="0" presId="urn:microsoft.com/office/officeart/2008/layout/HorizontalMultiLevelHierarchy"/>
    <dgm:cxn modelId="{C28E328D-D375-D34C-88EC-0F06E474D51A}" type="presParOf" srcId="{80887F48-1669-CD4A-B3A4-63211209B333}" destId="{319AEEFA-355B-9940-9546-6DCA7AF5E539}" srcOrd="0" destOrd="0" presId="urn:microsoft.com/office/officeart/2008/layout/HorizontalMultiLevelHierarchy"/>
    <dgm:cxn modelId="{FD8D88C8-8732-DA40-9F53-84A87A830EF6}" type="presParOf" srcId="{319AEEFA-355B-9940-9546-6DCA7AF5E539}" destId="{67902D8C-1D27-1349-884C-A7D1FA21B4EA}" srcOrd="0" destOrd="0" presId="urn:microsoft.com/office/officeart/2008/layout/HorizontalMultiLevelHierarchy"/>
    <dgm:cxn modelId="{4C33B0B2-1491-1C46-B25D-96805FDB4132}" type="presParOf" srcId="{80887F48-1669-CD4A-B3A4-63211209B333}" destId="{E226C7F2-E96D-2D47-803E-A053A89BCC4A}" srcOrd="1" destOrd="0" presId="urn:microsoft.com/office/officeart/2008/layout/HorizontalMultiLevelHierarchy"/>
    <dgm:cxn modelId="{44745253-4B9C-454B-AD07-640C3563DAAC}" type="presParOf" srcId="{E226C7F2-E96D-2D47-803E-A053A89BCC4A}" destId="{A061061C-D4D4-0A49-99DE-EDC52BD674D4}" srcOrd="0" destOrd="0" presId="urn:microsoft.com/office/officeart/2008/layout/HorizontalMultiLevelHierarchy"/>
    <dgm:cxn modelId="{94555ACE-0148-A54F-B497-DFDA4996DC3D}" type="presParOf" srcId="{E226C7F2-E96D-2D47-803E-A053A89BCC4A}" destId="{B8E8A42D-F709-B84A-83F1-F170CCBA233C}" srcOrd="1" destOrd="0" presId="urn:microsoft.com/office/officeart/2008/layout/HorizontalMultiLevelHierarchy"/>
    <dgm:cxn modelId="{3E707133-AB26-C94F-93E3-F6EA5142954F}" type="presParOf" srcId="{80887F48-1669-CD4A-B3A4-63211209B333}" destId="{FEB5993C-6E6D-4E42-816F-FCA2788E08BB}" srcOrd="2" destOrd="0" presId="urn:microsoft.com/office/officeart/2008/layout/HorizontalMultiLevelHierarchy"/>
    <dgm:cxn modelId="{5E9CC069-4300-9F47-8CE5-56E0A394BACE}" type="presParOf" srcId="{FEB5993C-6E6D-4E42-816F-FCA2788E08BB}" destId="{2467AB15-CB51-EB4F-BA5B-E16EA3C8CF32}" srcOrd="0" destOrd="0" presId="urn:microsoft.com/office/officeart/2008/layout/HorizontalMultiLevelHierarchy"/>
    <dgm:cxn modelId="{B0012D86-A683-EE43-B52C-A0A0C499FB26}" type="presParOf" srcId="{80887F48-1669-CD4A-B3A4-63211209B333}" destId="{0065B007-EDDF-394F-ACFC-C2B7EE82091F}" srcOrd="3" destOrd="0" presId="urn:microsoft.com/office/officeart/2008/layout/HorizontalMultiLevelHierarchy"/>
    <dgm:cxn modelId="{E1201B72-4FE1-F848-9013-2EC36C29F4AD}" type="presParOf" srcId="{0065B007-EDDF-394F-ACFC-C2B7EE82091F}" destId="{00316C26-07D4-3E40-81FA-01B7367A3FB4}" srcOrd="0" destOrd="0" presId="urn:microsoft.com/office/officeart/2008/layout/HorizontalMultiLevelHierarchy"/>
    <dgm:cxn modelId="{23BBD546-FF9D-1F40-B776-1A2A4C03AAA7}" type="presParOf" srcId="{0065B007-EDDF-394F-ACFC-C2B7EE82091F}" destId="{09A87A23-C4C0-404D-8B98-A48F24C6BAD3}" srcOrd="1" destOrd="0" presId="urn:microsoft.com/office/officeart/2008/layout/HorizontalMultiLevelHierarchy"/>
    <dgm:cxn modelId="{E874594A-2A61-F24B-A17C-A5D26320277F}" type="presParOf" srcId="{80887F48-1669-CD4A-B3A4-63211209B333}" destId="{8DD831C5-D456-4B41-BE70-3AAC2B042B9A}" srcOrd="4" destOrd="0" presId="urn:microsoft.com/office/officeart/2008/layout/HorizontalMultiLevelHierarchy"/>
    <dgm:cxn modelId="{7F24BBCE-B3AA-864E-8225-933B06E65AAA}" type="presParOf" srcId="{8DD831C5-D456-4B41-BE70-3AAC2B042B9A}" destId="{55F34F01-835A-444E-9057-76A1666E004B}" srcOrd="0" destOrd="0" presId="urn:microsoft.com/office/officeart/2008/layout/HorizontalMultiLevelHierarchy"/>
    <dgm:cxn modelId="{F822EC94-E44A-6E4D-B8F7-BDC319765B76}" type="presParOf" srcId="{80887F48-1669-CD4A-B3A4-63211209B333}" destId="{BCFA24FD-007C-1F46-A02B-436DC4ADBBC9}" srcOrd="5" destOrd="0" presId="urn:microsoft.com/office/officeart/2008/layout/HorizontalMultiLevelHierarchy"/>
    <dgm:cxn modelId="{89EFCF06-A831-9D41-8215-3352B0957DDE}" type="presParOf" srcId="{BCFA24FD-007C-1F46-A02B-436DC4ADBBC9}" destId="{127BCFD0-696D-7342-9537-1AC26AFE4CE9}" srcOrd="0" destOrd="0" presId="urn:microsoft.com/office/officeart/2008/layout/HorizontalMultiLevelHierarchy"/>
    <dgm:cxn modelId="{CA88EBBC-36F9-2A4D-957D-4E51A142F5DC}" type="presParOf" srcId="{BCFA24FD-007C-1F46-A02B-436DC4ADBBC9}" destId="{5EE0D9A4-677B-0848-8B6A-8E2321FB8407}" srcOrd="1" destOrd="0" presId="urn:microsoft.com/office/officeart/2008/layout/HorizontalMultiLevelHierarchy"/>
    <dgm:cxn modelId="{16A4C05F-787F-1E4E-9BC0-2FB600DE2FCA}" type="presParOf" srcId="{80887F48-1669-CD4A-B3A4-63211209B333}" destId="{321F4A46-A2FC-3F48-974E-2AC65258FF9C}" srcOrd="6" destOrd="0" presId="urn:microsoft.com/office/officeart/2008/layout/HorizontalMultiLevelHierarchy"/>
    <dgm:cxn modelId="{8991E5E1-0F77-6441-A0EE-0BD147CB9A55}" type="presParOf" srcId="{321F4A46-A2FC-3F48-974E-2AC65258FF9C}" destId="{14CCED62-A9F5-D24D-907F-6D052E9093F1}" srcOrd="0" destOrd="0" presId="urn:microsoft.com/office/officeart/2008/layout/HorizontalMultiLevelHierarchy"/>
    <dgm:cxn modelId="{27914115-C63B-F547-96EE-285F6E0D99F1}" type="presParOf" srcId="{80887F48-1669-CD4A-B3A4-63211209B333}" destId="{5118CC27-5D12-604B-A529-402376F48653}" srcOrd="7" destOrd="0" presId="urn:microsoft.com/office/officeart/2008/layout/HorizontalMultiLevelHierarchy"/>
    <dgm:cxn modelId="{A27DC066-F01D-E548-912F-B933BD781026}" type="presParOf" srcId="{5118CC27-5D12-604B-A529-402376F48653}" destId="{BDAE8061-C7E2-F846-9C8E-7CD383A7F84F}" srcOrd="0" destOrd="0" presId="urn:microsoft.com/office/officeart/2008/layout/HorizontalMultiLevelHierarchy"/>
    <dgm:cxn modelId="{27A06E09-A459-FD48-8C91-AFFC3380A6FC}" type="presParOf" srcId="{5118CC27-5D12-604B-A529-402376F48653}" destId="{972191B7-F643-3B40-B52F-C6E4ADC1F39F}"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4DAC42-4DAC-624C-AD37-54917F68FBDD}" type="doc">
      <dgm:prSet loTypeId="urn:microsoft.com/office/officeart/2005/8/layout/venn2" loCatId="" qsTypeId="urn:microsoft.com/office/officeart/2005/8/quickstyle/simple1" qsCatId="simple" csTypeId="urn:microsoft.com/office/officeart/2005/8/colors/accent1_2" csCatId="accent1" phldr="1"/>
      <dgm:spPr/>
    </dgm:pt>
    <dgm:pt modelId="{CF68AFC2-E124-9F44-986F-1C9E3250635B}">
      <dgm:prSet phldrT="[Text]"/>
      <dgm:spPr/>
      <dgm:t>
        <a:bodyPr/>
        <a:lstStyle/>
        <a:p>
          <a:r>
            <a:rPr lang="en-US" dirty="0"/>
            <a:t>Systemic</a:t>
          </a:r>
        </a:p>
      </dgm:t>
    </dgm:pt>
    <dgm:pt modelId="{DC5C2A52-07F4-EE49-A5EA-9083A63AD400}" type="parTrans" cxnId="{BA123210-0931-B840-91C5-9A3F015BD273}">
      <dgm:prSet/>
      <dgm:spPr/>
      <dgm:t>
        <a:bodyPr/>
        <a:lstStyle/>
        <a:p>
          <a:endParaRPr lang="en-US"/>
        </a:p>
      </dgm:t>
    </dgm:pt>
    <dgm:pt modelId="{550C5251-EF16-6E42-956B-19C87FCC8ECF}" type="sibTrans" cxnId="{BA123210-0931-B840-91C5-9A3F015BD273}">
      <dgm:prSet/>
      <dgm:spPr/>
      <dgm:t>
        <a:bodyPr/>
        <a:lstStyle/>
        <a:p>
          <a:endParaRPr lang="en-US"/>
        </a:p>
      </dgm:t>
    </dgm:pt>
    <dgm:pt modelId="{5B5BF5CB-F545-5B45-A58D-C98CB96F8F83}">
      <dgm:prSet phldrT="[Text]"/>
      <dgm:spPr/>
      <dgm:t>
        <a:bodyPr/>
        <a:lstStyle/>
        <a:p>
          <a:r>
            <a:rPr lang="en-US" dirty="0"/>
            <a:t>Design Practice</a:t>
          </a:r>
        </a:p>
      </dgm:t>
    </dgm:pt>
    <dgm:pt modelId="{6686D7E8-7310-3A46-8F06-B46E3678E7ED}" type="parTrans" cxnId="{0348FE79-E958-1647-B257-87AEC70D37F6}">
      <dgm:prSet/>
      <dgm:spPr/>
      <dgm:t>
        <a:bodyPr/>
        <a:lstStyle/>
        <a:p>
          <a:endParaRPr lang="en-US"/>
        </a:p>
      </dgm:t>
    </dgm:pt>
    <dgm:pt modelId="{C61CCFAE-2A3F-514C-873C-C8A74ABD4B66}" type="sibTrans" cxnId="{0348FE79-E958-1647-B257-87AEC70D37F6}">
      <dgm:prSet/>
      <dgm:spPr/>
      <dgm:t>
        <a:bodyPr/>
        <a:lstStyle/>
        <a:p>
          <a:endParaRPr lang="en-US"/>
        </a:p>
      </dgm:t>
    </dgm:pt>
    <dgm:pt modelId="{0F339D8F-11BA-D542-8F18-C34BA1B37691}">
      <dgm:prSet phldrT="[Text]"/>
      <dgm:spPr/>
      <dgm:t>
        <a:bodyPr/>
        <a:lstStyle/>
        <a:p>
          <a:r>
            <a:rPr lang="en-US" dirty="0"/>
            <a:t>Individual</a:t>
          </a:r>
        </a:p>
      </dgm:t>
    </dgm:pt>
    <dgm:pt modelId="{93F89E94-7C07-B845-8268-D37C64D02845}" type="parTrans" cxnId="{24306A23-B10A-6445-A7E8-44BCF3D18E41}">
      <dgm:prSet/>
      <dgm:spPr/>
      <dgm:t>
        <a:bodyPr/>
        <a:lstStyle/>
        <a:p>
          <a:endParaRPr lang="en-US"/>
        </a:p>
      </dgm:t>
    </dgm:pt>
    <dgm:pt modelId="{18B4A8FA-31E2-6649-BC98-6E420EBEFE1D}" type="sibTrans" cxnId="{24306A23-B10A-6445-A7E8-44BCF3D18E41}">
      <dgm:prSet/>
      <dgm:spPr/>
      <dgm:t>
        <a:bodyPr/>
        <a:lstStyle/>
        <a:p>
          <a:endParaRPr lang="en-US"/>
        </a:p>
      </dgm:t>
    </dgm:pt>
    <dgm:pt modelId="{E8D526DF-613D-3445-ACE4-9DB179C13DA7}" type="pres">
      <dgm:prSet presAssocID="{844DAC42-4DAC-624C-AD37-54917F68FBDD}" presName="Name0" presStyleCnt="0">
        <dgm:presLayoutVars>
          <dgm:chMax val="7"/>
          <dgm:resizeHandles val="exact"/>
        </dgm:presLayoutVars>
      </dgm:prSet>
      <dgm:spPr/>
    </dgm:pt>
    <dgm:pt modelId="{8B6883B7-F014-2B4B-9154-E9F7316BE2B6}" type="pres">
      <dgm:prSet presAssocID="{844DAC42-4DAC-624C-AD37-54917F68FBDD}" presName="comp1" presStyleCnt="0"/>
      <dgm:spPr/>
    </dgm:pt>
    <dgm:pt modelId="{64F43591-19F4-5F42-B54E-76830F42AA9F}" type="pres">
      <dgm:prSet presAssocID="{844DAC42-4DAC-624C-AD37-54917F68FBDD}" presName="circle1" presStyleLbl="node1" presStyleIdx="0" presStyleCnt="3"/>
      <dgm:spPr/>
    </dgm:pt>
    <dgm:pt modelId="{1F796255-F6CA-6D4B-9E6D-1B9BE3E8879D}" type="pres">
      <dgm:prSet presAssocID="{844DAC42-4DAC-624C-AD37-54917F68FBDD}" presName="c1text" presStyleLbl="node1" presStyleIdx="0" presStyleCnt="3">
        <dgm:presLayoutVars>
          <dgm:bulletEnabled val="1"/>
        </dgm:presLayoutVars>
      </dgm:prSet>
      <dgm:spPr/>
    </dgm:pt>
    <dgm:pt modelId="{EEF87139-AFA8-9340-876B-43AC352EA447}" type="pres">
      <dgm:prSet presAssocID="{844DAC42-4DAC-624C-AD37-54917F68FBDD}" presName="comp2" presStyleCnt="0"/>
      <dgm:spPr/>
    </dgm:pt>
    <dgm:pt modelId="{DE3662A5-DD99-FC43-8E81-49C4506D829D}" type="pres">
      <dgm:prSet presAssocID="{844DAC42-4DAC-624C-AD37-54917F68FBDD}" presName="circle2" presStyleLbl="node1" presStyleIdx="1" presStyleCnt="3"/>
      <dgm:spPr/>
    </dgm:pt>
    <dgm:pt modelId="{78C4F2AF-02A1-9947-9E58-59414D11E69D}" type="pres">
      <dgm:prSet presAssocID="{844DAC42-4DAC-624C-AD37-54917F68FBDD}" presName="c2text" presStyleLbl="node1" presStyleIdx="1" presStyleCnt="3">
        <dgm:presLayoutVars>
          <dgm:bulletEnabled val="1"/>
        </dgm:presLayoutVars>
      </dgm:prSet>
      <dgm:spPr/>
    </dgm:pt>
    <dgm:pt modelId="{60E3422D-6519-1048-B9FA-6BBFAFF577C2}" type="pres">
      <dgm:prSet presAssocID="{844DAC42-4DAC-624C-AD37-54917F68FBDD}" presName="comp3" presStyleCnt="0"/>
      <dgm:spPr/>
    </dgm:pt>
    <dgm:pt modelId="{33D818DD-0BE7-A149-95D0-8D6FD3BB0870}" type="pres">
      <dgm:prSet presAssocID="{844DAC42-4DAC-624C-AD37-54917F68FBDD}" presName="circle3" presStyleLbl="node1" presStyleIdx="2" presStyleCnt="3"/>
      <dgm:spPr/>
    </dgm:pt>
    <dgm:pt modelId="{4EA40FEE-8CF7-F443-8F93-33A472A5211E}" type="pres">
      <dgm:prSet presAssocID="{844DAC42-4DAC-624C-AD37-54917F68FBDD}" presName="c3text" presStyleLbl="node1" presStyleIdx="2" presStyleCnt="3">
        <dgm:presLayoutVars>
          <dgm:bulletEnabled val="1"/>
        </dgm:presLayoutVars>
      </dgm:prSet>
      <dgm:spPr/>
    </dgm:pt>
  </dgm:ptLst>
  <dgm:cxnLst>
    <dgm:cxn modelId="{BA123210-0931-B840-91C5-9A3F015BD273}" srcId="{844DAC42-4DAC-624C-AD37-54917F68FBDD}" destId="{CF68AFC2-E124-9F44-986F-1C9E3250635B}" srcOrd="0" destOrd="0" parTransId="{DC5C2A52-07F4-EE49-A5EA-9083A63AD400}" sibTransId="{550C5251-EF16-6E42-956B-19C87FCC8ECF}"/>
    <dgm:cxn modelId="{90CAED11-F1EF-3243-8DA0-2B37F5E09476}" type="presOf" srcId="{844DAC42-4DAC-624C-AD37-54917F68FBDD}" destId="{E8D526DF-613D-3445-ACE4-9DB179C13DA7}" srcOrd="0" destOrd="0" presId="urn:microsoft.com/office/officeart/2005/8/layout/venn2"/>
    <dgm:cxn modelId="{4AD9671A-BB20-9C4C-80E4-29E26BA193C7}" type="presOf" srcId="{CF68AFC2-E124-9F44-986F-1C9E3250635B}" destId="{1F796255-F6CA-6D4B-9E6D-1B9BE3E8879D}" srcOrd="1" destOrd="0" presId="urn:microsoft.com/office/officeart/2005/8/layout/venn2"/>
    <dgm:cxn modelId="{24306A23-B10A-6445-A7E8-44BCF3D18E41}" srcId="{844DAC42-4DAC-624C-AD37-54917F68FBDD}" destId="{0F339D8F-11BA-D542-8F18-C34BA1B37691}" srcOrd="2" destOrd="0" parTransId="{93F89E94-7C07-B845-8268-D37C64D02845}" sibTransId="{18B4A8FA-31E2-6649-BC98-6E420EBEFE1D}"/>
    <dgm:cxn modelId="{516CCA4D-F783-B146-8ECA-9BD0473C9116}" type="presOf" srcId="{0F339D8F-11BA-D542-8F18-C34BA1B37691}" destId="{4EA40FEE-8CF7-F443-8F93-33A472A5211E}" srcOrd="1" destOrd="0" presId="urn:microsoft.com/office/officeart/2005/8/layout/venn2"/>
    <dgm:cxn modelId="{0348FE79-E958-1647-B257-87AEC70D37F6}" srcId="{844DAC42-4DAC-624C-AD37-54917F68FBDD}" destId="{5B5BF5CB-F545-5B45-A58D-C98CB96F8F83}" srcOrd="1" destOrd="0" parTransId="{6686D7E8-7310-3A46-8F06-B46E3678E7ED}" sibTransId="{C61CCFAE-2A3F-514C-873C-C8A74ABD4B66}"/>
    <dgm:cxn modelId="{420BC78B-9EC8-1342-A7DA-8E6D3B0A46C4}" type="presOf" srcId="{5B5BF5CB-F545-5B45-A58D-C98CB96F8F83}" destId="{DE3662A5-DD99-FC43-8E81-49C4506D829D}" srcOrd="0" destOrd="0" presId="urn:microsoft.com/office/officeart/2005/8/layout/venn2"/>
    <dgm:cxn modelId="{F3BCFF99-F431-6449-8C17-2D3C186F48F1}" type="presOf" srcId="{0F339D8F-11BA-D542-8F18-C34BA1B37691}" destId="{33D818DD-0BE7-A149-95D0-8D6FD3BB0870}" srcOrd="0" destOrd="0" presId="urn:microsoft.com/office/officeart/2005/8/layout/venn2"/>
    <dgm:cxn modelId="{DDC3179C-A96B-EA4F-9ED9-49A064E102EA}" type="presOf" srcId="{CF68AFC2-E124-9F44-986F-1C9E3250635B}" destId="{64F43591-19F4-5F42-B54E-76830F42AA9F}" srcOrd="0" destOrd="0" presId="urn:microsoft.com/office/officeart/2005/8/layout/venn2"/>
    <dgm:cxn modelId="{707BC8AA-2804-FE45-B961-FD17C4B793E9}" type="presOf" srcId="{5B5BF5CB-F545-5B45-A58D-C98CB96F8F83}" destId="{78C4F2AF-02A1-9947-9E58-59414D11E69D}" srcOrd="1" destOrd="0" presId="urn:microsoft.com/office/officeart/2005/8/layout/venn2"/>
    <dgm:cxn modelId="{7EB52FD2-4298-5E43-A7FC-72E29D6D31D5}" type="presParOf" srcId="{E8D526DF-613D-3445-ACE4-9DB179C13DA7}" destId="{8B6883B7-F014-2B4B-9154-E9F7316BE2B6}" srcOrd="0" destOrd="0" presId="urn:microsoft.com/office/officeart/2005/8/layout/venn2"/>
    <dgm:cxn modelId="{E68CC8AA-F0A7-E549-9313-48AE1D117CBE}" type="presParOf" srcId="{8B6883B7-F014-2B4B-9154-E9F7316BE2B6}" destId="{64F43591-19F4-5F42-B54E-76830F42AA9F}" srcOrd="0" destOrd="0" presId="urn:microsoft.com/office/officeart/2005/8/layout/venn2"/>
    <dgm:cxn modelId="{ED49C822-3A44-EA40-8C20-FA85BB66516C}" type="presParOf" srcId="{8B6883B7-F014-2B4B-9154-E9F7316BE2B6}" destId="{1F796255-F6CA-6D4B-9E6D-1B9BE3E8879D}" srcOrd="1" destOrd="0" presId="urn:microsoft.com/office/officeart/2005/8/layout/venn2"/>
    <dgm:cxn modelId="{67971EA1-2A84-9848-ACDE-B021263BB7D4}" type="presParOf" srcId="{E8D526DF-613D-3445-ACE4-9DB179C13DA7}" destId="{EEF87139-AFA8-9340-876B-43AC352EA447}" srcOrd="1" destOrd="0" presId="urn:microsoft.com/office/officeart/2005/8/layout/venn2"/>
    <dgm:cxn modelId="{E75D5420-FE2E-8042-A1BC-4AF2E271084E}" type="presParOf" srcId="{EEF87139-AFA8-9340-876B-43AC352EA447}" destId="{DE3662A5-DD99-FC43-8E81-49C4506D829D}" srcOrd="0" destOrd="0" presId="urn:microsoft.com/office/officeart/2005/8/layout/venn2"/>
    <dgm:cxn modelId="{56547A2B-CE11-4648-94E0-0584642619DF}" type="presParOf" srcId="{EEF87139-AFA8-9340-876B-43AC352EA447}" destId="{78C4F2AF-02A1-9947-9E58-59414D11E69D}" srcOrd="1" destOrd="0" presId="urn:microsoft.com/office/officeart/2005/8/layout/venn2"/>
    <dgm:cxn modelId="{50469CFE-B18D-5F4C-A9D2-3A83043D58BE}" type="presParOf" srcId="{E8D526DF-613D-3445-ACE4-9DB179C13DA7}" destId="{60E3422D-6519-1048-B9FA-6BBFAFF577C2}" srcOrd="2" destOrd="0" presId="urn:microsoft.com/office/officeart/2005/8/layout/venn2"/>
    <dgm:cxn modelId="{6354321A-86FB-B947-839E-2B6295CF83FE}" type="presParOf" srcId="{60E3422D-6519-1048-B9FA-6BBFAFF577C2}" destId="{33D818DD-0BE7-A149-95D0-8D6FD3BB0870}" srcOrd="0" destOrd="0" presId="urn:microsoft.com/office/officeart/2005/8/layout/venn2"/>
    <dgm:cxn modelId="{134CBC62-F170-8F49-B5B9-25F980E64F6C}" type="presParOf" srcId="{60E3422D-6519-1048-B9FA-6BBFAFF577C2}" destId="{4EA40FEE-8CF7-F443-8F93-33A472A5211E}"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F1671-AFF0-5A49-9D0A-5A68964582C2}">
      <dsp:nvSpPr>
        <dsp:cNvPr id="0" name=""/>
        <dsp:cNvSpPr/>
      </dsp:nvSpPr>
      <dsp:spPr>
        <a:xfrm>
          <a:off x="3286" y="108502"/>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Design Process</a:t>
          </a:r>
        </a:p>
      </dsp:txBody>
      <dsp:txXfrm>
        <a:off x="3286" y="108502"/>
        <a:ext cx="3203971" cy="633600"/>
      </dsp:txXfrm>
    </dsp:sp>
    <dsp:sp modelId="{0A4B47F9-4FAE-934D-9D1D-19948389DB05}">
      <dsp:nvSpPr>
        <dsp:cNvPr id="0" name=""/>
        <dsp:cNvSpPr/>
      </dsp:nvSpPr>
      <dsp:spPr>
        <a:xfrm>
          <a:off x="3286" y="742102"/>
          <a:ext cx="3203971" cy="35007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Symbol" pitchFamily="2" charset="2"/>
            <a:buChar char=""/>
          </a:pPr>
          <a:r>
            <a:rPr lang="en-US" sz="2200" kern="1200"/>
            <a:t>Products designed FOR seniors, not WITH them</a:t>
          </a:r>
          <a:endParaRPr lang="en-US" sz="2200" kern="1200" dirty="0"/>
        </a:p>
        <a:p>
          <a:pPr marL="228600" lvl="1" indent="-228600" algn="l" defTabSz="977900">
            <a:lnSpc>
              <a:spcPct val="90000"/>
            </a:lnSpc>
            <a:spcBef>
              <a:spcPct val="0"/>
            </a:spcBef>
            <a:spcAft>
              <a:spcPct val="15000"/>
            </a:spcAft>
            <a:buSzPts val="1000"/>
            <a:buFont typeface="Symbol" pitchFamily="2" charset="2"/>
            <a:buChar char=""/>
          </a:pPr>
          <a:r>
            <a:rPr lang="en-US" sz="2200" kern="1200"/>
            <a:t>Minimal meaningful co-design or participation</a:t>
          </a:r>
        </a:p>
        <a:p>
          <a:pPr marL="228600" lvl="1" indent="-228600" algn="l" defTabSz="977900">
            <a:lnSpc>
              <a:spcPct val="90000"/>
            </a:lnSpc>
            <a:spcBef>
              <a:spcPct val="0"/>
            </a:spcBef>
            <a:spcAft>
              <a:spcPct val="15000"/>
            </a:spcAft>
            <a:buSzPts val="1000"/>
            <a:buFont typeface="Symbol" pitchFamily="2" charset="2"/>
            <a:buChar char=""/>
          </a:pPr>
          <a:r>
            <a:rPr lang="en-US" sz="2200" kern="1200" dirty="0"/>
            <a:t>Senior voices systematically excluded</a:t>
          </a:r>
        </a:p>
      </dsp:txBody>
      <dsp:txXfrm>
        <a:off x="3286" y="742102"/>
        <a:ext cx="3203971" cy="3500732"/>
      </dsp:txXfrm>
    </dsp:sp>
    <dsp:sp modelId="{E4100662-DA2A-644D-AA2E-C11285405F5C}">
      <dsp:nvSpPr>
        <dsp:cNvPr id="0" name=""/>
        <dsp:cNvSpPr/>
      </dsp:nvSpPr>
      <dsp:spPr>
        <a:xfrm>
          <a:off x="3655814" y="108502"/>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Primary User</a:t>
          </a:r>
          <a:endParaRPr lang="en-US" sz="2200" kern="1200" dirty="0"/>
        </a:p>
      </dsp:txBody>
      <dsp:txXfrm>
        <a:off x="3655814" y="108502"/>
        <a:ext cx="3203971" cy="633600"/>
      </dsp:txXfrm>
    </dsp:sp>
    <dsp:sp modelId="{9B9DD647-7207-774F-BB60-6FC118C726CF}">
      <dsp:nvSpPr>
        <dsp:cNvPr id="0" name=""/>
        <dsp:cNvSpPr/>
      </dsp:nvSpPr>
      <dsp:spPr>
        <a:xfrm>
          <a:off x="3655814" y="742102"/>
          <a:ext cx="3203971" cy="35007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Symbol" pitchFamily="2" charset="2"/>
            <a:buChar char=""/>
          </a:pPr>
          <a:r>
            <a:rPr lang="en-US" sz="2200" kern="1200" dirty="0"/>
            <a:t>Caregivers positioned as main users</a:t>
          </a:r>
        </a:p>
        <a:p>
          <a:pPr marL="228600" lvl="1" indent="-228600" algn="l" defTabSz="977900">
            <a:lnSpc>
              <a:spcPct val="90000"/>
            </a:lnSpc>
            <a:spcBef>
              <a:spcPct val="0"/>
            </a:spcBef>
            <a:spcAft>
              <a:spcPct val="15000"/>
            </a:spcAft>
            <a:buSzPts val="1000"/>
            <a:buFont typeface="Symbol" pitchFamily="2" charset="2"/>
            <a:buChar char=""/>
          </a:pPr>
          <a:r>
            <a:rPr lang="en-US" sz="2200" kern="1200"/>
            <a:t>Seniors become passive subjects of monitoring</a:t>
          </a:r>
        </a:p>
        <a:p>
          <a:pPr marL="228600" lvl="1" indent="-228600" algn="l" defTabSz="977900">
            <a:lnSpc>
              <a:spcPct val="90000"/>
            </a:lnSpc>
            <a:spcBef>
              <a:spcPct val="0"/>
            </a:spcBef>
            <a:spcAft>
              <a:spcPct val="15000"/>
            </a:spcAft>
            <a:buSzPts val="1000"/>
            <a:buFont typeface="Symbol" pitchFamily="2" charset="2"/>
            <a:buChar char=""/>
          </a:pPr>
          <a:r>
            <a:rPr lang="en-US" sz="2200" kern="1200" dirty="0"/>
            <a:t>Contradicts values of independence and agency</a:t>
          </a:r>
        </a:p>
      </dsp:txBody>
      <dsp:txXfrm>
        <a:off x="3655814" y="742102"/>
        <a:ext cx="3203971" cy="3500732"/>
      </dsp:txXfrm>
    </dsp:sp>
    <dsp:sp modelId="{5C69A206-F7DD-2C44-AB01-CDD47B1E31B3}">
      <dsp:nvSpPr>
        <dsp:cNvPr id="0" name=""/>
        <dsp:cNvSpPr/>
      </dsp:nvSpPr>
      <dsp:spPr>
        <a:xfrm>
          <a:off x="7308342" y="108502"/>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Product Focus</a:t>
          </a:r>
          <a:endParaRPr lang="en-US" sz="2200" kern="1200" dirty="0"/>
        </a:p>
      </dsp:txBody>
      <dsp:txXfrm>
        <a:off x="7308342" y="108502"/>
        <a:ext cx="3203971" cy="633600"/>
      </dsp:txXfrm>
    </dsp:sp>
    <dsp:sp modelId="{E76DEC9D-92EE-F24B-AB4C-79F1CEEF9C54}">
      <dsp:nvSpPr>
        <dsp:cNvPr id="0" name=""/>
        <dsp:cNvSpPr/>
      </dsp:nvSpPr>
      <dsp:spPr>
        <a:xfrm>
          <a:off x="7308342" y="742102"/>
          <a:ext cx="3203971" cy="35007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Health-domain dominated (fall detection, medication reminders, health monitoring)</a:t>
          </a:r>
        </a:p>
        <a:p>
          <a:pPr marL="228600" lvl="1" indent="-228600" algn="l" defTabSz="977900">
            <a:lnSpc>
              <a:spcPct val="90000"/>
            </a:lnSpc>
            <a:spcBef>
              <a:spcPct val="0"/>
            </a:spcBef>
            <a:spcAft>
              <a:spcPct val="15000"/>
            </a:spcAft>
            <a:buSzPts val="1000"/>
            <a:buFont typeface="Symbol" pitchFamily="2" charset="2"/>
            <a:buChar char=""/>
          </a:pPr>
          <a:r>
            <a:rPr lang="en-US" sz="2200" kern="1200"/>
            <a:t>Disease management rather than wellbeing support</a:t>
          </a:r>
        </a:p>
        <a:p>
          <a:pPr marL="228600" lvl="1" indent="-228600" algn="l" defTabSz="977900">
            <a:lnSpc>
              <a:spcPct val="90000"/>
            </a:lnSpc>
            <a:spcBef>
              <a:spcPct val="0"/>
            </a:spcBef>
            <a:spcAft>
              <a:spcPct val="15000"/>
            </a:spcAft>
            <a:buSzPts val="1000"/>
            <a:buFont typeface="Symbol" pitchFamily="2" charset="2"/>
            <a:buChar char=""/>
          </a:pPr>
          <a:r>
            <a:rPr lang="en-US" sz="2200" kern="1200" dirty="0"/>
            <a:t>Reactive rather than proactive approach</a:t>
          </a:r>
        </a:p>
      </dsp:txBody>
      <dsp:txXfrm>
        <a:off x="7308342" y="742102"/>
        <a:ext cx="3203971" cy="3500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F4A46-A2FC-3F48-974E-2AC65258FF9C}">
      <dsp:nvSpPr>
        <dsp:cNvPr id="0" name=""/>
        <dsp:cNvSpPr/>
      </dsp:nvSpPr>
      <dsp:spPr>
        <a:xfrm>
          <a:off x="1918945" y="2136953"/>
          <a:ext cx="531659" cy="1519607"/>
        </a:xfrm>
        <a:custGeom>
          <a:avLst/>
          <a:gdLst/>
          <a:ahLst/>
          <a:cxnLst/>
          <a:rect l="0" t="0" r="0" b="0"/>
          <a:pathLst>
            <a:path>
              <a:moveTo>
                <a:pt x="0" y="0"/>
              </a:moveTo>
              <a:lnTo>
                <a:pt x="265829" y="0"/>
              </a:lnTo>
              <a:lnTo>
                <a:pt x="265829" y="1519607"/>
              </a:lnTo>
              <a:lnTo>
                <a:pt x="531659" y="15196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526" y="2856508"/>
        <a:ext cx="80496" cy="80496"/>
      </dsp:txXfrm>
    </dsp:sp>
    <dsp:sp modelId="{8DD831C5-D456-4B41-BE70-3AAC2B042B9A}">
      <dsp:nvSpPr>
        <dsp:cNvPr id="0" name=""/>
        <dsp:cNvSpPr/>
      </dsp:nvSpPr>
      <dsp:spPr>
        <a:xfrm>
          <a:off x="1918945" y="2136953"/>
          <a:ext cx="531659" cy="506535"/>
        </a:xfrm>
        <a:custGeom>
          <a:avLst/>
          <a:gdLst/>
          <a:ahLst/>
          <a:cxnLst/>
          <a:rect l="0" t="0" r="0" b="0"/>
          <a:pathLst>
            <a:path>
              <a:moveTo>
                <a:pt x="0" y="0"/>
              </a:moveTo>
              <a:lnTo>
                <a:pt x="265829" y="0"/>
              </a:lnTo>
              <a:lnTo>
                <a:pt x="265829" y="506535"/>
              </a:lnTo>
              <a:lnTo>
                <a:pt x="531659" y="50653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66416" y="2371863"/>
        <a:ext cx="36716" cy="36716"/>
      </dsp:txXfrm>
    </dsp:sp>
    <dsp:sp modelId="{FEB5993C-6E6D-4E42-816F-FCA2788E08BB}">
      <dsp:nvSpPr>
        <dsp:cNvPr id="0" name=""/>
        <dsp:cNvSpPr/>
      </dsp:nvSpPr>
      <dsp:spPr>
        <a:xfrm>
          <a:off x="1918945" y="1630417"/>
          <a:ext cx="531659" cy="506535"/>
        </a:xfrm>
        <a:custGeom>
          <a:avLst/>
          <a:gdLst/>
          <a:ahLst/>
          <a:cxnLst/>
          <a:rect l="0" t="0" r="0" b="0"/>
          <a:pathLst>
            <a:path>
              <a:moveTo>
                <a:pt x="0" y="506535"/>
              </a:moveTo>
              <a:lnTo>
                <a:pt x="265829" y="506535"/>
              </a:lnTo>
              <a:lnTo>
                <a:pt x="265829" y="0"/>
              </a:lnTo>
              <a:lnTo>
                <a:pt x="531659"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66416" y="1865327"/>
        <a:ext cx="36716" cy="36716"/>
      </dsp:txXfrm>
    </dsp:sp>
    <dsp:sp modelId="{319AEEFA-355B-9940-9546-6DCA7AF5E539}">
      <dsp:nvSpPr>
        <dsp:cNvPr id="0" name=""/>
        <dsp:cNvSpPr/>
      </dsp:nvSpPr>
      <dsp:spPr>
        <a:xfrm>
          <a:off x="1918945" y="617346"/>
          <a:ext cx="531659" cy="1519607"/>
        </a:xfrm>
        <a:custGeom>
          <a:avLst/>
          <a:gdLst/>
          <a:ahLst/>
          <a:cxnLst/>
          <a:rect l="0" t="0" r="0" b="0"/>
          <a:pathLst>
            <a:path>
              <a:moveTo>
                <a:pt x="0" y="1519607"/>
              </a:moveTo>
              <a:lnTo>
                <a:pt x="265829" y="1519607"/>
              </a:lnTo>
              <a:lnTo>
                <a:pt x="265829" y="0"/>
              </a:lnTo>
              <a:lnTo>
                <a:pt x="531659"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526" y="1336901"/>
        <a:ext cx="80496" cy="80496"/>
      </dsp:txXfrm>
    </dsp:sp>
    <dsp:sp modelId="{4DD32BBD-E98E-544D-9D6A-61B8B2F5C6E3}">
      <dsp:nvSpPr>
        <dsp:cNvPr id="0" name=""/>
        <dsp:cNvSpPr/>
      </dsp:nvSpPr>
      <dsp:spPr>
        <a:xfrm rot="16200000">
          <a:off x="-619065" y="1731724"/>
          <a:ext cx="4265563"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Barriers</a:t>
          </a:r>
        </a:p>
      </dsp:txBody>
      <dsp:txXfrm>
        <a:off x="-619065" y="1731724"/>
        <a:ext cx="4265563" cy="810457"/>
      </dsp:txXfrm>
    </dsp:sp>
    <dsp:sp modelId="{A061061C-D4D4-0A49-99DE-EDC52BD674D4}">
      <dsp:nvSpPr>
        <dsp:cNvPr id="0" name=""/>
        <dsp:cNvSpPr/>
      </dsp:nvSpPr>
      <dsp:spPr>
        <a:xfrm>
          <a:off x="2450604" y="212117"/>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SzPts val="1000"/>
            <a:buFont typeface="Symbol" pitchFamily="2" charset="2"/>
            <a:buNone/>
          </a:pPr>
          <a:r>
            <a:rPr lang="en-US" sz="2000" kern="1200" dirty="0"/>
            <a:t>Digital literacy assumed from the start</a:t>
          </a:r>
        </a:p>
      </dsp:txBody>
      <dsp:txXfrm>
        <a:off x="2450604" y="212117"/>
        <a:ext cx="2658299" cy="810457"/>
      </dsp:txXfrm>
    </dsp:sp>
    <dsp:sp modelId="{00316C26-07D4-3E40-81FA-01B7367A3FB4}">
      <dsp:nvSpPr>
        <dsp:cNvPr id="0" name=""/>
        <dsp:cNvSpPr/>
      </dsp:nvSpPr>
      <dsp:spPr>
        <a:xfrm>
          <a:off x="2450604" y="1225189"/>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SzPts val="1000"/>
            <a:buFont typeface="Symbol" pitchFamily="2" charset="2"/>
            <a:buNone/>
          </a:pPr>
          <a:r>
            <a:rPr lang="en-US" sz="2000" kern="1200"/>
            <a:t>Inadequate onboarding processes</a:t>
          </a:r>
        </a:p>
      </dsp:txBody>
      <dsp:txXfrm>
        <a:off x="2450604" y="1225189"/>
        <a:ext cx="2658299" cy="810457"/>
      </dsp:txXfrm>
    </dsp:sp>
    <dsp:sp modelId="{127BCFD0-696D-7342-9537-1AC26AFE4CE9}">
      <dsp:nvSpPr>
        <dsp:cNvPr id="0" name=""/>
        <dsp:cNvSpPr/>
      </dsp:nvSpPr>
      <dsp:spPr>
        <a:xfrm>
          <a:off x="2450604" y="2238260"/>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SzPts val="1000"/>
            <a:buFont typeface="Symbol" pitchFamily="2" charset="2"/>
            <a:buNone/>
          </a:pPr>
          <a:r>
            <a:rPr lang="en-US" sz="2000" kern="1200"/>
            <a:t>Rapid technology evolution without learning pathways</a:t>
          </a:r>
        </a:p>
      </dsp:txBody>
      <dsp:txXfrm>
        <a:off x="2450604" y="2238260"/>
        <a:ext cx="2658299" cy="810457"/>
      </dsp:txXfrm>
    </dsp:sp>
    <dsp:sp modelId="{BDAE8061-C7E2-F846-9C8E-7CD383A7F84F}">
      <dsp:nvSpPr>
        <dsp:cNvPr id="0" name=""/>
        <dsp:cNvSpPr/>
      </dsp:nvSpPr>
      <dsp:spPr>
        <a:xfrm>
          <a:off x="2450604" y="3251331"/>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No support for keeping pace with change</a:t>
          </a:r>
        </a:p>
      </dsp:txBody>
      <dsp:txXfrm>
        <a:off x="2450604" y="3251331"/>
        <a:ext cx="2658299" cy="8104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43591-19F4-5F42-B54E-76830F42AA9F}">
      <dsp:nvSpPr>
        <dsp:cNvPr id="0" name=""/>
        <dsp:cNvSpPr/>
      </dsp:nvSpPr>
      <dsp:spPr>
        <a:xfrm>
          <a:off x="1312773" y="0"/>
          <a:ext cx="5187098" cy="518709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Systemic</a:t>
          </a:r>
        </a:p>
      </dsp:txBody>
      <dsp:txXfrm>
        <a:off x="2999877" y="259354"/>
        <a:ext cx="1812890" cy="778064"/>
      </dsp:txXfrm>
    </dsp:sp>
    <dsp:sp modelId="{DE3662A5-DD99-FC43-8E81-49C4506D829D}">
      <dsp:nvSpPr>
        <dsp:cNvPr id="0" name=""/>
        <dsp:cNvSpPr/>
      </dsp:nvSpPr>
      <dsp:spPr>
        <a:xfrm>
          <a:off x="1961160" y="1296774"/>
          <a:ext cx="3890323" cy="389032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Design Practice</a:t>
          </a:r>
        </a:p>
      </dsp:txBody>
      <dsp:txXfrm>
        <a:off x="2999877" y="1539919"/>
        <a:ext cx="1812890" cy="729435"/>
      </dsp:txXfrm>
    </dsp:sp>
    <dsp:sp modelId="{33D818DD-0BE7-A149-95D0-8D6FD3BB0870}">
      <dsp:nvSpPr>
        <dsp:cNvPr id="0" name=""/>
        <dsp:cNvSpPr/>
      </dsp:nvSpPr>
      <dsp:spPr>
        <a:xfrm>
          <a:off x="2609548" y="2593549"/>
          <a:ext cx="2593549" cy="259354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Individual</a:t>
          </a:r>
        </a:p>
      </dsp:txBody>
      <dsp:txXfrm>
        <a:off x="2989364" y="3241936"/>
        <a:ext cx="1833916" cy="129677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DC74CB-9DE0-784E-B0E5-0025B6F37CA2}" type="datetimeFigureOut">
              <a:rPr lang="en-US" smtClean="0"/>
              <a:t>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754A13-9916-C44B-80C4-96B576B33BB9}" type="slidenum">
              <a:rPr lang="en-US" smtClean="0"/>
              <a:t>‹#›</a:t>
            </a:fld>
            <a:endParaRPr lang="en-US"/>
          </a:p>
        </p:txBody>
      </p:sp>
    </p:spTree>
    <p:extLst>
      <p:ext uri="{BB962C8B-B14F-4D97-AF65-F5344CB8AC3E}">
        <p14:creationId xmlns:p14="http://schemas.microsoft.com/office/powerpoint/2010/main" val="115529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02B5-E09F-ACB9-ED77-85FAD92CA3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DDB7EB-57B2-7C65-8487-1699624C6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BC7C7C-533F-5F94-5408-CBEEF02A6793}"/>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0C620239-5D73-AF06-59C3-B4EA341EA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94F79-B092-9164-5683-8804804A6C28}"/>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3776577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17A2-D9FC-221D-580E-95D238E09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7A40E0-4B53-136F-2DA5-AE9382750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A655F-27EA-60E4-7A10-61AF519014A3}"/>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A8FB315F-64C2-7F5C-D070-08DE49967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8E38C-8A8D-85AF-8BE9-B07313F5C5B2}"/>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345962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4D7D-20C4-3153-47E0-67478E730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DD6E14-8D83-0255-3889-9E1F273888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F07638-A583-DECE-0AF5-8A5AB5D32D47}"/>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B6918156-7046-153D-E25E-9163B5AE1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E6387-7F48-CAF8-3FC6-00A58A103E72}"/>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35478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BDB7D-6423-E0B7-9A2A-863584CC64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3F816-8B01-6FE6-4CC8-C8960C3AB9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612FF6-31B3-0ED8-BF0D-3C357F69F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4739DB-BAF1-8E17-1AC3-7A38A4D6EA65}"/>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6" name="Footer Placeholder 5">
            <a:extLst>
              <a:ext uri="{FF2B5EF4-FFF2-40B4-BE49-F238E27FC236}">
                <a16:creationId xmlns:a16="http://schemas.microsoft.com/office/drawing/2014/main" id="{2C0DF5B4-0791-7FAC-E7C5-DCBCDB5C1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80867F-B5A8-0B09-2586-3D025CEE42EA}"/>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77228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0514B-B195-A998-1050-79C105068E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358204-8380-E8AC-B858-6106D01E43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0EFB79-5878-863C-3599-FF47546AA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BFC9D2-B726-D3EE-A89D-A8B48F6BDC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DEFEFF-8BC6-096E-D467-D6D6F76599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884E6E-C138-5C0E-1365-8490C35F2FD9}"/>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8" name="Footer Placeholder 7">
            <a:extLst>
              <a:ext uri="{FF2B5EF4-FFF2-40B4-BE49-F238E27FC236}">
                <a16:creationId xmlns:a16="http://schemas.microsoft.com/office/drawing/2014/main" id="{1279D422-6780-1F85-CD55-B29FDA516D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F33618-8061-3B84-7951-319A0B12C996}"/>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490035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69A7-A8F0-7B99-EE00-2C6AF1B7F8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27279A-8F72-7C78-C4D5-7D353C6E16E0}"/>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4" name="Footer Placeholder 3">
            <a:extLst>
              <a:ext uri="{FF2B5EF4-FFF2-40B4-BE49-F238E27FC236}">
                <a16:creationId xmlns:a16="http://schemas.microsoft.com/office/drawing/2014/main" id="{87C3E9FC-EAA4-6CF7-F736-CC911B3470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7307D7-419A-DBB3-1A80-8B6ED7C50804}"/>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23836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265C44-D0E6-DC4F-270B-BCFE94FC6350}"/>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3" name="Footer Placeholder 2">
            <a:extLst>
              <a:ext uri="{FF2B5EF4-FFF2-40B4-BE49-F238E27FC236}">
                <a16:creationId xmlns:a16="http://schemas.microsoft.com/office/drawing/2014/main" id="{F0D10016-2AED-2EEC-4D01-0446CF11AD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65B09A-8D1E-3D18-B37A-DDE3848CF28D}"/>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1349686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EF955-7053-A564-8D89-EB2A28134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64B7DE-DF3A-A52A-9310-0098D7FA7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9AAD45-AA0B-8122-A5CA-DD0692D25A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C7E4D-4C06-8B93-1843-6136FAC76A21}"/>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6" name="Footer Placeholder 5">
            <a:extLst>
              <a:ext uri="{FF2B5EF4-FFF2-40B4-BE49-F238E27FC236}">
                <a16:creationId xmlns:a16="http://schemas.microsoft.com/office/drawing/2014/main" id="{9F6F8C91-EB46-FCC4-C7CD-435350F5EE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E567DC-13E2-0DC4-EB6A-546D5F0B2B40}"/>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24078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E693-EB2F-6167-37BC-1F3E805408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036029-4040-5FEB-B591-C30AACCC3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D85E71-BD15-6320-37F1-C1555F996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FBAC2-2227-EEAE-4CBA-A5597F9F0F8D}"/>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6" name="Footer Placeholder 5">
            <a:extLst>
              <a:ext uri="{FF2B5EF4-FFF2-40B4-BE49-F238E27FC236}">
                <a16:creationId xmlns:a16="http://schemas.microsoft.com/office/drawing/2014/main" id="{2C112670-8DB5-8105-E4CE-763F1A7B1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06509D-2EEF-D7C8-741F-FCE633C45F70}"/>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314584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AED1-FB40-38C8-6CA8-B233D820F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209163-CDE4-E09F-14E1-36DB4896FF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2FF2BD-140A-2117-8249-B4077DBE1CDC}"/>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121A6F7B-F681-76C6-3A2E-3501E03D7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0ADA5-7974-85F5-833A-92FDF1C29AE3}"/>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100385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F1ED9-BCA6-57B2-339F-18BDE72931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5F677E-A55C-66E4-F191-6CF801BBAB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D4B783-FD09-0ABA-77B4-BC11B2C4CAD1}"/>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3D3D5DDC-FD8D-3740-EC7A-188F920BF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DA7C9-E780-7671-F007-411B08596116}"/>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1300211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2F1255-01BB-DD9F-3B17-67165A7DBA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BD2068-D1A9-61B9-910F-4DA62880C9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3A7492-F25B-7F5F-EEA4-77B58318FE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1663748E-3D62-143E-CA15-A4D5E7F704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55AB66-C47E-6A31-EEFA-3B058C5504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188859-DF08-594D-BD52-0CC5B6E36993}" type="slidenum">
              <a:rPr lang="en-US" smtClean="0"/>
              <a:t>‹#›</a:t>
            </a:fld>
            <a:endParaRPr lang="en-US"/>
          </a:p>
        </p:txBody>
      </p:sp>
    </p:spTree>
    <p:extLst>
      <p:ext uri="{BB962C8B-B14F-4D97-AF65-F5344CB8AC3E}">
        <p14:creationId xmlns:p14="http://schemas.microsoft.com/office/powerpoint/2010/main" val="3926267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47C94-D68E-6D8C-8ECD-FE7BEAAC6591}"/>
              </a:ext>
            </a:extLst>
          </p:cNvPr>
          <p:cNvSpPr>
            <a:spLocks noGrp="1"/>
          </p:cNvSpPr>
          <p:nvPr>
            <p:ph type="ctrTitle"/>
          </p:nvPr>
        </p:nvSpPr>
        <p:spPr/>
        <p:txBody>
          <a:bodyPr>
            <a:normAutofit fontScale="90000"/>
          </a:bodyPr>
          <a:lstStyle/>
          <a:p>
            <a:r>
              <a:rPr lang="en-US" b="1" dirty="0"/>
              <a:t>Learning Design in </a:t>
            </a:r>
            <a:r>
              <a:rPr lang="en-US" b="1" dirty="0" err="1"/>
              <a:t>AgeTech</a:t>
            </a:r>
            <a:r>
              <a:rPr lang="en-US" b="1" dirty="0"/>
              <a:t>: Findings from the Impact by Design Project</a:t>
            </a:r>
            <a:endParaRPr lang="en-US" dirty="0"/>
          </a:p>
        </p:txBody>
      </p:sp>
      <p:sp>
        <p:nvSpPr>
          <p:cNvPr id="3" name="Subtitle 2">
            <a:extLst>
              <a:ext uri="{FF2B5EF4-FFF2-40B4-BE49-F238E27FC236}">
                <a16:creationId xmlns:a16="http://schemas.microsoft.com/office/drawing/2014/main" id="{12CB2233-7410-DA9A-72C7-F1814984A12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9797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56365-36B1-6E12-5E36-BF3EA02DA12E}"/>
              </a:ext>
            </a:extLst>
          </p:cNvPr>
          <p:cNvSpPr>
            <a:spLocks noGrp="1"/>
          </p:cNvSpPr>
          <p:nvPr>
            <p:ph type="title"/>
          </p:nvPr>
        </p:nvSpPr>
        <p:spPr/>
        <p:txBody>
          <a:bodyPr/>
          <a:lstStyle/>
          <a:p>
            <a:r>
              <a:rPr lang="en-US" b="1" dirty="0"/>
              <a:t>Why This Work Matters</a:t>
            </a:r>
            <a:endParaRPr lang="en-US" dirty="0"/>
          </a:p>
        </p:txBody>
      </p:sp>
      <p:sp>
        <p:nvSpPr>
          <p:cNvPr id="3" name="Content Placeholder 2">
            <a:extLst>
              <a:ext uri="{FF2B5EF4-FFF2-40B4-BE49-F238E27FC236}">
                <a16:creationId xmlns:a16="http://schemas.microsoft.com/office/drawing/2014/main" id="{658E6EA4-DF7A-CFCF-CE1D-54C8E31638A9}"/>
              </a:ext>
            </a:extLst>
          </p:cNvPr>
          <p:cNvSpPr>
            <a:spLocks noGrp="1"/>
          </p:cNvSpPr>
          <p:nvPr>
            <p:ph idx="1"/>
          </p:nvPr>
        </p:nvSpPr>
        <p:spPr/>
        <p:txBody>
          <a:bodyPr>
            <a:normAutofit fontScale="92500" lnSpcReduction="20000"/>
          </a:bodyPr>
          <a:lstStyle/>
          <a:p>
            <a:pPr marL="0" marR="0">
              <a:lnSpc>
                <a:spcPct val="115000"/>
              </a:lnSpc>
              <a:spcAft>
                <a:spcPts val="800"/>
              </a:spcAft>
              <a:buNone/>
            </a:pP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The Demographic Reality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By 2030, one in six people worldwide will be aged 60 or older. This demographic shift is already creating profound wellbeing challenges: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itchFamily="2"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14%</a:t>
            </a: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 of older adults live with mental disorders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itchFamily="2"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1 in 6</a:t>
            </a: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 seniors experience abuse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itchFamily="2" charset="2"/>
              <a:buChar char=""/>
              <a:tabLst>
                <a:tab pos="457200" algn="l"/>
              </a:tabLst>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Loneliness and social isolation are key risk factors for mental health conditions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sz="2800" kern="0" dirty="0">
                <a:effectLst/>
                <a:latin typeface="Times New Roman" panose="02020603050405020304" pitchFamily="18" charset="0"/>
                <a:ea typeface="Times New Roman" panose="02020603050405020304" pitchFamily="18" charset="0"/>
              </a:rPr>
              <a:t>Millions retiring in the next 5 years lack adequate support or planning</a:t>
            </a:r>
            <a:r>
              <a:rPr lang="en-US" dirty="0">
                <a:effectLst/>
              </a:rPr>
              <a:t> </a:t>
            </a:r>
            <a:endParaRPr lang="en-US" dirty="0"/>
          </a:p>
        </p:txBody>
      </p:sp>
    </p:spTree>
    <p:extLst>
      <p:ext uri="{BB962C8B-B14F-4D97-AF65-F5344CB8AC3E}">
        <p14:creationId xmlns:p14="http://schemas.microsoft.com/office/powerpoint/2010/main" val="2968414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95E11-865C-B2F8-71FB-8B36033D4EBC}"/>
              </a:ext>
            </a:extLst>
          </p:cNvPr>
          <p:cNvSpPr>
            <a:spLocks noGrp="1"/>
          </p:cNvSpPr>
          <p:nvPr>
            <p:ph type="title"/>
          </p:nvPr>
        </p:nvSpPr>
        <p:spPr/>
        <p:txBody>
          <a:bodyPr>
            <a:normAutofit/>
          </a:bodyPr>
          <a:lstStyle/>
          <a:p>
            <a:r>
              <a:rPr lang="en-US" b="1" dirty="0"/>
              <a:t>The Disconnect: What We Know vs. What We Build</a:t>
            </a:r>
            <a:endParaRPr lang="en-US" dirty="0"/>
          </a:p>
        </p:txBody>
      </p:sp>
      <p:graphicFrame>
        <p:nvGraphicFramePr>
          <p:cNvPr id="4" name="Content Placeholder 3">
            <a:extLst>
              <a:ext uri="{FF2B5EF4-FFF2-40B4-BE49-F238E27FC236}">
                <a16:creationId xmlns:a16="http://schemas.microsoft.com/office/drawing/2014/main" id="{1F6476B0-789C-AB50-A959-13E729880DA7}"/>
              </a:ext>
            </a:extLst>
          </p:cNvPr>
          <p:cNvGraphicFramePr>
            <a:graphicFrameLocks noGrp="1"/>
          </p:cNvGraphicFramePr>
          <p:nvPr>
            <p:ph idx="1"/>
            <p:extLst>
              <p:ext uri="{D42A27DB-BD31-4B8C-83A1-F6EECF244321}">
                <p14:modId xmlns:p14="http://schemas.microsoft.com/office/powerpoint/2010/main" val="293258576"/>
              </p:ext>
            </p:extLst>
          </p:nvPr>
        </p:nvGraphicFramePr>
        <p:xfrm>
          <a:off x="838200" y="1825625"/>
          <a:ext cx="10515600" cy="1833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402306159"/>
                    </a:ext>
                  </a:extLst>
                </a:gridCol>
                <a:gridCol w="5257800">
                  <a:extLst>
                    <a:ext uri="{9D8B030D-6E8A-4147-A177-3AD203B41FA5}">
                      <a16:colId xmlns:a16="http://schemas.microsoft.com/office/drawing/2014/main" val="1459464091"/>
                    </a:ext>
                  </a:extLst>
                </a:gridCol>
              </a:tblGrid>
              <a:tr h="370840">
                <a:tc>
                  <a:txBody>
                    <a:bodyPr/>
                    <a:lstStyle/>
                    <a:p>
                      <a:r>
                        <a:rPr lang="en-US" dirty="0"/>
                        <a:t>What research shows</a:t>
                      </a:r>
                    </a:p>
                  </a:txBody>
                  <a:tcPr/>
                </a:tc>
                <a:tc>
                  <a:txBody>
                    <a:bodyPr/>
                    <a:lstStyle/>
                    <a:p>
                      <a:r>
                        <a:rPr lang="en-US" sz="1800" b="1" kern="1200" dirty="0">
                          <a:solidFill>
                            <a:schemeClr val="lt1"/>
                          </a:solidFill>
                          <a:effectLst/>
                          <a:latin typeface="+mn-lt"/>
                          <a:ea typeface="+mn-ea"/>
                          <a:cs typeface="+mn-cs"/>
                        </a:rPr>
                        <a:t>What </a:t>
                      </a:r>
                      <a:r>
                        <a:rPr lang="en-US" sz="1800" b="1" kern="1200" dirty="0" err="1">
                          <a:solidFill>
                            <a:schemeClr val="lt1"/>
                          </a:solidFill>
                          <a:effectLst/>
                          <a:latin typeface="+mn-lt"/>
                          <a:ea typeface="+mn-ea"/>
                          <a:cs typeface="+mn-cs"/>
                        </a:rPr>
                        <a:t>AgeTech</a:t>
                      </a:r>
                      <a:r>
                        <a:rPr lang="en-US" sz="1800" b="1" kern="1200" dirty="0">
                          <a:solidFill>
                            <a:schemeClr val="lt1"/>
                          </a:solidFill>
                          <a:effectLst/>
                          <a:latin typeface="+mn-lt"/>
                          <a:ea typeface="+mn-ea"/>
                          <a:cs typeface="+mn-cs"/>
                        </a:rPr>
                        <a:t> Delivers</a:t>
                      </a:r>
                      <a:r>
                        <a:rPr lang="en-US" dirty="0">
                          <a:effectLst/>
                        </a:rPr>
                        <a:t> </a:t>
                      </a:r>
                      <a:endParaRPr lang="en-US" dirty="0"/>
                    </a:p>
                  </a:txBody>
                  <a:tcPr/>
                </a:tc>
                <a:extLst>
                  <a:ext uri="{0D108BD9-81ED-4DB2-BD59-A6C34878D82A}">
                    <a16:rowId xmlns:a16="http://schemas.microsoft.com/office/drawing/2014/main" val="1556931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Lifelong learning serves as a protective factor for mental and physical health in older adults. It maintains cognitive function, supports self-awareness and resilience, and fosters positive outlook.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The industry is dominated by health-focused solutions that treat aging as a condition to be managed rather than as an active life stage to be supported.</a:t>
                      </a:r>
                    </a:p>
                    <a:p>
                      <a:endParaRPr lang="en-US" dirty="0"/>
                    </a:p>
                  </a:txBody>
                  <a:tcPr/>
                </a:tc>
                <a:extLst>
                  <a:ext uri="{0D108BD9-81ED-4DB2-BD59-A6C34878D82A}">
                    <a16:rowId xmlns:a16="http://schemas.microsoft.com/office/drawing/2014/main" val="2868655697"/>
                  </a:ext>
                </a:extLst>
              </a:tr>
            </a:tbl>
          </a:graphicData>
        </a:graphic>
      </p:graphicFrame>
    </p:spTree>
    <p:extLst>
      <p:ext uri="{BB962C8B-B14F-4D97-AF65-F5344CB8AC3E}">
        <p14:creationId xmlns:p14="http://schemas.microsoft.com/office/powerpoint/2010/main" val="328679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74812-9A1F-F503-E305-78634C88D25C}"/>
              </a:ext>
            </a:extLst>
          </p:cNvPr>
          <p:cNvSpPr>
            <a:spLocks noGrp="1"/>
          </p:cNvSpPr>
          <p:nvPr>
            <p:ph type="title"/>
          </p:nvPr>
        </p:nvSpPr>
        <p:spPr/>
        <p:txBody>
          <a:bodyPr/>
          <a:lstStyle/>
          <a:p>
            <a:r>
              <a:rPr lang="en-US" dirty="0"/>
              <a:t>The current state of </a:t>
            </a:r>
            <a:r>
              <a:rPr lang="en-US" dirty="0" err="1"/>
              <a:t>AgeTech</a:t>
            </a:r>
            <a:endParaRPr lang="en-US" dirty="0"/>
          </a:p>
        </p:txBody>
      </p:sp>
      <p:graphicFrame>
        <p:nvGraphicFramePr>
          <p:cNvPr id="4" name="Content Placeholder 3">
            <a:extLst>
              <a:ext uri="{FF2B5EF4-FFF2-40B4-BE49-F238E27FC236}">
                <a16:creationId xmlns:a16="http://schemas.microsoft.com/office/drawing/2014/main" id="{13796E97-D9D3-50EB-2965-6F4C70F02274}"/>
              </a:ext>
            </a:extLst>
          </p:cNvPr>
          <p:cNvGraphicFramePr>
            <a:graphicFrameLocks noGrp="1"/>
          </p:cNvGraphicFramePr>
          <p:nvPr>
            <p:ph idx="1"/>
            <p:extLst>
              <p:ext uri="{D42A27DB-BD31-4B8C-83A1-F6EECF244321}">
                <p14:modId xmlns:p14="http://schemas.microsoft.com/office/powerpoint/2010/main" val="34259233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9664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DCA93-CB7D-4D26-8D26-D12922803852}"/>
              </a:ext>
            </a:extLst>
          </p:cNvPr>
          <p:cNvSpPr>
            <a:spLocks noGrp="1"/>
          </p:cNvSpPr>
          <p:nvPr>
            <p:ph type="title"/>
          </p:nvPr>
        </p:nvSpPr>
        <p:spPr/>
        <p:txBody>
          <a:bodyPr/>
          <a:lstStyle/>
          <a:p>
            <a:r>
              <a:rPr lang="en-US" b="1" dirty="0"/>
              <a:t>The Digital Divide: Created by Design, Not Capability</a:t>
            </a:r>
            <a:endParaRPr lang="en-US" dirty="0"/>
          </a:p>
        </p:txBody>
      </p:sp>
      <p:sp>
        <p:nvSpPr>
          <p:cNvPr id="4" name="Rounded Rectangle 3">
            <a:extLst>
              <a:ext uri="{FF2B5EF4-FFF2-40B4-BE49-F238E27FC236}">
                <a16:creationId xmlns:a16="http://schemas.microsoft.com/office/drawing/2014/main" id="{773A3930-7160-5C14-5A65-ABBA1472CC48}"/>
              </a:ext>
            </a:extLst>
          </p:cNvPr>
          <p:cNvSpPr/>
          <p:nvPr/>
        </p:nvSpPr>
        <p:spPr>
          <a:xfrm>
            <a:off x="1033153" y="2434442"/>
            <a:ext cx="2660073" cy="223256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 critical finding: </a:t>
            </a:r>
            <a:r>
              <a:rPr lang="en-US" b="1" dirty="0"/>
              <a:t>Older adults do not lack awareness that technology exists—they lack structured support to learn how to use it.</a:t>
            </a:r>
            <a:endParaRPr lang="en-US" dirty="0"/>
          </a:p>
        </p:txBody>
      </p:sp>
      <p:graphicFrame>
        <p:nvGraphicFramePr>
          <p:cNvPr id="5" name="Diagram 4">
            <a:extLst>
              <a:ext uri="{FF2B5EF4-FFF2-40B4-BE49-F238E27FC236}">
                <a16:creationId xmlns:a16="http://schemas.microsoft.com/office/drawing/2014/main" id="{383E655B-FD56-4711-F91D-4DF343B4F794}"/>
              </a:ext>
            </a:extLst>
          </p:cNvPr>
          <p:cNvGraphicFramePr/>
          <p:nvPr>
            <p:extLst>
              <p:ext uri="{D42A27DB-BD31-4B8C-83A1-F6EECF244321}">
                <p14:modId xmlns:p14="http://schemas.microsoft.com/office/powerpoint/2010/main" val="635474962"/>
              </p:ext>
            </p:extLst>
          </p:nvPr>
        </p:nvGraphicFramePr>
        <p:xfrm>
          <a:off x="2790702" y="1706955"/>
          <a:ext cx="6217392" cy="42739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ounded Rectangle 5">
            <a:extLst>
              <a:ext uri="{FF2B5EF4-FFF2-40B4-BE49-F238E27FC236}">
                <a16:creationId xmlns:a16="http://schemas.microsoft.com/office/drawing/2014/main" id="{43D18897-F468-EFC8-F1C6-BFE9100F1B11}"/>
              </a:ext>
            </a:extLst>
          </p:cNvPr>
          <p:cNvSpPr/>
          <p:nvPr/>
        </p:nvSpPr>
        <p:spPr>
          <a:xfrm>
            <a:off x="8105570" y="2434441"/>
            <a:ext cx="3248230" cy="223256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Result:</a:t>
            </a:r>
            <a:r>
              <a:rPr lang="en-US" dirty="0"/>
              <a:t> A population systematically excluded from tools that could enhance their wellbeing—not because they cannot learn, but because the learning infrastructure doesn't exist.</a:t>
            </a:r>
          </a:p>
        </p:txBody>
      </p:sp>
    </p:spTree>
    <p:extLst>
      <p:ext uri="{BB962C8B-B14F-4D97-AF65-F5344CB8AC3E}">
        <p14:creationId xmlns:p14="http://schemas.microsoft.com/office/powerpoint/2010/main" val="3366901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A451-5EC8-AD8A-E114-27316E5E718D}"/>
              </a:ext>
            </a:extLst>
          </p:cNvPr>
          <p:cNvSpPr>
            <a:spLocks noGrp="1"/>
          </p:cNvSpPr>
          <p:nvPr>
            <p:ph type="title"/>
          </p:nvPr>
        </p:nvSpPr>
        <p:spPr/>
        <p:txBody>
          <a:bodyPr/>
          <a:lstStyle/>
          <a:p>
            <a:r>
              <a:rPr lang="en-US" dirty="0"/>
              <a:t>Barriers to Effective </a:t>
            </a:r>
            <a:r>
              <a:rPr lang="en-US" dirty="0" err="1"/>
              <a:t>AgeTech</a:t>
            </a:r>
            <a:r>
              <a:rPr lang="en-US" dirty="0"/>
              <a:t> Design</a:t>
            </a:r>
          </a:p>
        </p:txBody>
      </p:sp>
      <p:grpSp>
        <p:nvGrpSpPr>
          <p:cNvPr id="9" name="Group 8">
            <a:extLst>
              <a:ext uri="{FF2B5EF4-FFF2-40B4-BE49-F238E27FC236}">
                <a16:creationId xmlns:a16="http://schemas.microsoft.com/office/drawing/2014/main" id="{6641B173-21B4-B30A-71B3-D9AA7915F15A}"/>
              </a:ext>
            </a:extLst>
          </p:cNvPr>
          <p:cNvGrpSpPr/>
          <p:nvPr/>
        </p:nvGrpSpPr>
        <p:grpSpPr>
          <a:xfrm>
            <a:off x="2189677" y="1552148"/>
            <a:ext cx="7812645" cy="5187098"/>
            <a:chOff x="2031999" y="1439333"/>
            <a:chExt cx="8128000" cy="5418667"/>
          </a:xfrm>
        </p:grpSpPr>
        <p:graphicFrame>
          <p:nvGraphicFramePr>
            <p:cNvPr id="4" name="Diagram 3">
              <a:extLst>
                <a:ext uri="{FF2B5EF4-FFF2-40B4-BE49-F238E27FC236}">
                  <a16:creationId xmlns:a16="http://schemas.microsoft.com/office/drawing/2014/main" id="{D247FAAA-18FF-DC20-AC39-3ED43854FAF2}"/>
                </a:ext>
              </a:extLst>
            </p:cNvPr>
            <p:cNvGraphicFramePr/>
            <p:nvPr>
              <p:extLst>
                <p:ext uri="{D42A27DB-BD31-4B8C-83A1-F6EECF244321}">
                  <p14:modId xmlns:p14="http://schemas.microsoft.com/office/powerpoint/2010/main" val="2750606743"/>
                </p:ext>
              </p:extLst>
            </p:nvPr>
          </p:nvGraphicFramePr>
          <p:xfrm>
            <a:off x="2031999" y="1439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154DA1A-E29C-F11A-8C0B-15E52A1C3088}"/>
                </a:ext>
              </a:extLst>
            </p:cNvPr>
            <p:cNvSpPr txBox="1"/>
            <p:nvPr/>
          </p:nvSpPr>
          <p:spPr>
            <a:xfrm>
              <a:off x="5330042" y="5661006"/>
              <a:ext cx="1698171" cy="738664"/>
            </a:xfrm>
            <a:prstGeom prst="rect">
              <a:avLst/>
            </a:prstGeom>
            <a:noFill/>
          </p:spPr>
          <p:txBody>
            <a:bodyPr wrap="square" rtlCol="0">
              <a:spAutoFit/>
            </a:bodyPr>
            <a:lstStyle/>
            <a:p>
              <a:pPr algn="ctr"/>
              <a:r>
                <a:rPr lang="en-US" sz="1400" dirty="0">
                  <a:solidFill>
                    <a:srgbClr val="FFFF00"/>
                  </a:solidFill>
                </a:rPr>
                <a:t>Psychological  Physical Knowledge </a:t>
              </a:r>
            </a:p>
          </p:txBody>
        </p:sp>
        <p:sp>
          <p:nvSpPr>
            <p:cNvPr id="6" name="TextBox 5">
              <a:extLst>
                <a:ext uri="{FF2B5EF4-FFF2-40B4-BE49-F238E27FC236}">
                  <a16:creationId xmlns:a16="http://schemas.microsoft.com/office/drawing/2014/main" id="{37FE46D7-5377-DF39-9756-76EF2A99BBB5}"/>
                </a:ext>
              </a:extLst>
            </p:cNvPr>
            <p:cNvSpPr txBox="1"/>
            <p:nvPr/>
          </p:nvSpPr>
          <p:spPr>
            <a:xfrm>
              <a:off x="4904511" y="3491760"/>
              <a:ext cx="2363188" cy="523220"/>
            </a:xfrm>
            <a:prstGeom prst="rect">
              <a:avLst/>
            </a:prstGeom>
            <a:noFill/>
          </p:spPr>
          <p:txBody>
            <a:bodyPr wrap="square" rtlCol="0">
              <a:spAutoFit/>
            </a:bodyPr>
            <a:lstStyle/>
            <a:p>
              <a:pPr algn="ctr"/>
              <a:r>
                <a:rPr lang="en-US" sz="1400" dirty="0">
                  <a:solidFill>
                    <a:srgbClr val="FFFF00"/>
                  </a:solidFill>
                  <a:latin typeface="Arial"/>
                  <a:cs typeface="Arial"/>
                  <a:sym typeface="Arial"/>
                </a:rPr>
                <a:t>Process • Product Focus • Interface Design </a:t>
              </a:r>
            </a:p>
          </p:txBody>
        </p:sp>
        <p:sp>
          <p:nvSpPr>
            <p:cNvPr id="7" name="TextBox 6">
              <a:extLst>
                <a:ext uri="{FF2B5EF4-FFF2-40B4-BE49-F238E27FC236}">
                  <a16:creationId xmlns:a16="http://schemas.microsoft.com/office/drawing/2014/main" id="{2081A44D-5701-2C73-29E4-B92BDB27B017}"/>
                </a:ext>
              </a:extLst>
            </p:cNvPr>
            <p:cNvSpPr txBox="1"/>
            <p:nvPr/>
          </p:nvSpPr>
          <p:spPr>
            <a:xfrm>
              <a:off x="4904511" y="2149017"/>
              <a:ext cx="2363188" cy="523220"/>
            </a:xfrm>
            <a:prstGeom prst="rect">
              <a:avLst/>
            </a:prstGeom>
            <a:noFill/>
          </p:spPr>
          <p:txBody>
            <a:bodyPr wrap="square" rtlCol="0">
              <a:spAutoFit/>
            </a:bodyPr>
            <a:lstStyle/>
            <a:p>
              <a:pPr algn="ctr"/>
              <a:r>
                <a:rPr lang="en-US" sz="1400" dirty="0">
                  <a:solidFill>
                    <a:srgbClr val="FFFF00"/>
                  </a:solidFill>
                  <a:latin typeface="Arial"/>
                  <a:cs typeface="Arial"/>
                  <a:sym typeface="Arial"/>
                </a:rPr>
                <a:t>Economic • Policy • Cultural • Institutional </a:t>
              </a:r>
            </a:p>
          </p:txBody>
        </p:sp>
      </p:grpSp>
    </p:spTree>
    <p:extLst>
      <p:ext uri="{BB962C8B-B14F-4D97-AF65-F5344CB8AC3E}">
        <p14:creationId xmlns:p14="http://schemas.microsoft.com/office/powerpoint/2010/main" val="578048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9B69EC-B0E9-509B-5ED6-A20416F0A07C}"/>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54E8C9EA-572F-196D-88D3-FB93C6732C5A}"/>
              </a:ext>
            </a:extLst>
          </p:cNvPr>
          <p:cNvSpPr txBox="1"/>
          <p:nvPr/>
        </p:nvSpPr>
        <p:spPr>
          <a:xfrm>
            <a:off x="2370898" y="2958102"/>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
        <p:nvSpPr>
          <p:cNvPr id="5" name="TextBox 4">
            <a:extLst>
              <a:ext uri="{FF2B5EF4-FFF2-40B4-BE49-F238E27FC236}">
                <a16:creationId xmlns:a16="http://schemas.microsoft.com/office/drawing/2014/main" id="{CC2BE8C4-E0C8-0893-4442-6D5A73B78C3E}"/>
              </a:ext>
            </a:extLst>
          </p:cNvPr>
          <p:cNvSpPr txBox="1"/>
          <p:nvPr/>
        </p:nvSpPr>
        <p:spPr>
          <a:xfrm>
            <a:off x="3634635" y="4040865"/>
            <a:ext cx="6100174" cy="711541"/>
          </a:xfrm>
          <a:prstGeom prst="rect">
            <a:avLst/>
          </a:prstGeom>
          <a:noFill/>
        </p:spPr>
        <p:txBody>
          <a:bodyPr wrap="square">
            <a:spAutoFit/>
          </a:bodyPr>
          <a:lstStyle/>
          <a:p>
            <a:pPr marL="0" marR="0" algn="ctr">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Build learning support directly into products, recognizing that technology literacy is learned, not innate.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3837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4E3394-D350-64FE-05FB-00C4439F9AF6}"/>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CA497410-F09B-A392-5DEA-C356E4F48B1C}"/>
              </a:ext>
            </a:extLst>
          </p:cNvPr>
          <p:cNvSpPr txBox="1"/>
          <p:nvPr/>
        </p:nvSpPr>
        <p:spPr>
          <a:xfrm>
            <a:off x="2032000" y="1258295"/>
            <a:ext cx="8127999" cy="392993"/>
          </a:xfrm>
          <a:prstGeom prst="rect">
            <a:avLst/>
          </a:prstGeom>
          <a:noFill/>
        </p:spPr>
        <p:txBody>
          <a:bodyPr wrap="square">
            <a:spAutoFit/>
          </a:bodyPr>
          <a:lstStyle/>
          <a:p>
            <a:pPr marL="0" marR="0" algn="ctr">
              <a:lnSpc>
                <a:spcPct val="115000"/>
              </a:lnSpc>
              <a:spcAft>
                <a:spcPts val="800"/>
              </a:spcAft>
              <a:buNone/>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"Design literacy and tech literacy must develop together"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Brittne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Kakulla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AARP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E2EA786F-FFB7-1F6A-A3A5-C27373F1A3A2}"/>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582D8335-A85A-BE46-BB49-7B712D684792}"/>
              </a:ext>
            </a:extLst>
          </p:cNvPr>
          <p:cNvGraphicFramePr>
            <a:graphicFrameLocks noGrp="1"/>
          </p:cNvGraphicFramePr>
          <p:nvPr>
            <p:extLst>
              <p:ext uri="{D42A27DB-BD31-4B8C-83A1-F6EECF244321}">
                <p14:modId xmlns:p14="http://schemas.microsoft.com/office/powerpoint/2010/main" val="17721611"/>
              </p:ext>
            </p:extLst>
          </p:nvPr>
        </p:nvGraphicFramePr>
        <p:xfrm>
          <a:off x="1631861" y="1872060"/>
          <a:ext cx="9077892" cy="4275042"/>
        </p:xfrm>
        <a:graphic>
          <a:graphicData uri="http://schemas.openxmlformats.org/drawingml/2006/table">
            <a:tbl>
              <a:tblPr firstRow="1" bandRow="1">
                <a:tableStyleId>{69012ECD-51FC-41F1-AA8D-1B2483CD663E}</a:tableStyleId>
              </a:tblPr>
              <a:tblGrid>
                <a:gridCol w="3025964">
                  <a:extLst>
                    <a:ext uri="{9D8B030D-6E8A-4147-A177-3AD203B41FA5}">
                      <a16:colId xmlns:a16="http://schemas.microsoft.com/office/drawing/2014/main" val="2221359430"/>
                    </a:ext>
                  </a:extLst>
                </a:gridCol>
                <a:gridCol w="3025964">
                  <a:extLst>
                    <a:ext uri="{9D8B030D-6E8A-4147-A177-3AD203B41FA5}">
                      <a16:colId xmlns:a16="http://schemas.microsoft.com/office/drawing/2014/main" val="3328806665"/>
                    </a:ext>
                  </a:extLst>
                </a:gridCol>
                <a:gridCol w="302596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Identity-Affirming Design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Older adults internalize cultural narratives that they "can't learn" or "don't need to”</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This is an emotional/identity barrier, not just skill-based</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Their "Jobs to Be Done" are tied to identity and purpose, not novelty or performance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Counter self-ageism by creating low stakes experiences/engagement that builds confidence.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Reinforce agency and confidence by enabling self-directed exploration that helps users reach their goals.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tech use as identity-affirming ("help me reach my goals"), use gamified or low-stakes contexts to reduce fear of failure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gamified or low-stakes experiences to reduce fear of failure.</a:t>
                      </a:r>
                      <a:r>
                        <a:rPr lang="en-US" dirty="0">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943865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C900-154B-1824-B477-93A894240F0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7BB1C60-5EA7-7473-1F85-38543BF824C6}"/>
              </a:ext>
            </a:extLst>
          </p:cNvPr>
          <p:cNvGraphicFramePr>
            <a:graphicFrameLocks noGrp="1"/>
          </p:cNvGraphicFramePr>
          <p:nvPr>
            <p:extLst>
              <p:ext uri="{D42A27DB-BD31-4B8C-83A1-F6EECF244321}">
                <p14:modId xmlns:p14="http://schemas.microsoft.com/office/powerpoint/2010/main" val="2066772741"/>
              </p:ext>
            </p:extLst>
          </p:nvPr>
        </p:nvGraphicFramePr>
        <p:xfrm>
          <a:off x="1631861" y="1872060"/>
          <a:ext cx="9077892" cy="4275042"/>
        </p:xfrm>
        <a:graphic>
          <a:graphicData uri="http://schemas.openxmlformats.org/drawingml/2006/table">
            <a:tbl>
              <a:tblPr firstRow="1" bandRow="1">
                <a:tableStyleId>{69012ECD-51FC-41F1-AA8D-1B2483CD663E}</a:tableStyleId>
              </a:tblPr>
              <a:tblGrid>
                <a:gridCol w="3025964">
                  <a:extLst>
                    <a:ext uri="{9D8B030D-6E8A-4147-A177-3AD203B41FA5}">
                      <a16:colId xmlns:a16="http://schemas.microsoft.com/office/drawing/2014/main" val="2221359430"/>
                    </a:ext>
                  </a:extLst>
                </a:gridCol>
                <a:gridCol w="3025964">
                  <a:extLst>
                    <a:ext uri="{9D8B030D-6E8A-4147-A177-3AD203B41FA5}">
                      <a16:colId xmlns:a16="http://schemas.microsoft.com/office/drawing/2014/main" val="3328806665"/>
                    </a:ext>
                  </a:extLst>
                </a:gridCol>
                <a:gridCol w="302596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Learning Through Low-Stakes Practice and Gamification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Motivation among seniors is intrinsic and wellbeing-oriented (joy, mastery, connection) rather than extrinsic (points, achievements).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Enjoyment of competition and recognition builds social identity</a:t>
                      </a:r>
                    </a:p>
                    <a:p>
                      <a:pPr marL="285750" lvl="0" indent="-285750">
                        <a:buFont typeface="Arial" panose="020B0604020202020204" pitchFamily="34" charset="0"/>
                        <a:buChar char="•"/>
                      </a:pP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p>
                      <a:pPr marL="285750" lvl="0" indent="-285750">
                        <a:buFont typeface="Arial" panose="020B0604020202020204" pitchFamily="34" charset="0"/>
                        <a:buChar char="•"/>
                      </a:pP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Gamified micro-learning aligns with their cognitive and emotional patterns — repetition, small wins, meaningful contexts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Recognition functions as emotional reward and motivator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Gamification → reinforces engagement with personal goals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games that teach transferable tech skills, use repetition and small wins in meaningful contexts, enable boasting about achievements (builds social identity)</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Connect to personal goals rather than leaderboards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DA76B7E6-26F0-881D-1988-806DD45FF7A5}"/>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8264008E-64AC-523D-EDD8-B85FBCD5E872}"/>
              </a:ext>
            </a:extLst>
          </p:cNvPr>
          <p:cNvSpPr txBox="1"/>
          <p:nvPr/>
        </p:nvSpPr>
        <p:spPr>
          <a:xfrm>
            <a:off x="2032000" y="1258295"/>
            <a:ext cx="8127999" cy="392993"/>
          </a:xfrm>
          <a:prstGeom prst="rect">
            <a:avLst/>
          </a:prstGeom>
          <a:noFill/>
        </p:spPr>
        <p:txBody>
          <a:bodyPr wrap="square">
            <a:spAutoFit/>
          </a:bodyPr>
          <a:lstStyle/>
          <a:p>
            <a:pPr marL="0" marR="0" algn="ctr">
              <a:lnSpc>
                <a:spcPct val="115000"/>
              </a:lnSpc>
              <a:spcAft>
                <a:spcPts val="800"/>
              </a:spcAft>
              <a:buNone/>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”Games is a gateway to learn technology"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Brittne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Kakulla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AARP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80182AA-2C68-C7A8-A919-A476E5F893A7}"/>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Tree>
    <p:extLst>
      <p:ext uri="{BB962C8B-B14F-4D97-AF65-F5344CB8AC3E}">
        <p14:creationId xmlns:p14="http://schemas.microsoft.com/office/powerpoint/2010/main" val="2660086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75D0D-ABFC-7B5E-D06F-0B1A9C9C742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692CB16-D252-5A89-AB14-6B8E91D585A8}"/>
              </a:ext>
            </a:extLst>
          </p:cNvPr>
          <p:cNvGraphicFramePr>
            <a:graphicFrameLocks noGrp="1"/>
          </p:cNvGraphicFramePr>
          <p:nvPr>
            <p:extLst>
              <p:ext uri="{D42A27DB-BD31-4B8C-83A1-F6EECF244321}">
                <p14:modId xmlns:p14="http://schemas.microsoft.com/office/powerpoint/2010/main" val="3797547234"/>
              </p:ext>
            </p:extLst>
          </p:nvPr>
        </p:nvGraphicFramePr>
        <p:xfrm>
          <a:off x="1189972" y="1914425"/>
          <a:ext cx="9970716" cy="4823682"/>
        </p:xfrm>
        <a:graphic>
          <a:graphicData uri="http://schemas.openxmlformats.org/drawingml/2006/table">
            <a:tbl>
              <a:tblPr firstRow="1" bandRow="1">
                <a:tableStyleId>{69012ECD-51FC-41F1-AA8D-1B2483CD663E}</a:tableStyleId>
              </a:tblPr>
              <a:tblGrid>
                <a:gridCol w="3181612">
                  <a:extLst>
                    <a:ext uri="{9D8B030D-6E8A-4147-A177-3AD203B41FA5}">
                      <a16:colId xmlns:a16="http://schemas.microsoft.com/office/drawing/2014/main" val="2221359430"/>
                    </a:ext>
                  </a:extLst>
                </a:gridCol>
                <a:gridCol w="3269293">
                  <a:extLst>
                    <a:ext uri="{9D8B030D-6E8A-4147-A177-3AD203B41FA5}">
                      <a16:colId xmlns:a16="http://schemas.microsoft.com/office/drawing/2014/main" val="3328806665"/>
                    </a:ext>
                  </a:extLst>
                </a:gridCol>
                <a:gridCol w="3519811">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Cognitive-Friendly Interaction Layers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Older adults process information differently than younger adults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 adults have decades of learned behaviors shaped by analog and early digital technologies.</a:t>
                      </a:r>
                    </a:p>
                    <a:p>
                      <a:pPr marL="285750" lvl="0" indent="-285750">
                        <a:buFont typeface="Arial" panose="020B0604020202020204" pitchFamily="34" charset="0"/>
                        <a:buChar char="•"/>
                      </a:pP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interactions that reduce cognitive load and accommodate age-related changes in processing speed, working memory, and attention.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should build on existing mental models rather than requiring entirely new paradigms.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clear visual hierarchies, minimal distractions, and consistent patterns.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Reduce distractions and competing elements, provide clear feedback for every action, use familiar metaphors, build in confirmation steps, allow time for processing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Don't force users to learn entirely new interaction paradigms when familiar ones can be adapted.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B9AFB1B7-620F-FE92-F98A-C3759DCF9F0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9B49478-68D7-40D4-903F-3BA56D8DB215}"/>
              </a:ext>
            </a:extLst>
          </p:cNvPr>
          <p:cNvSpPr txBox="1"/>
          <p:nvPr/>
        </p:nvSpPr>
        <p:spPr>
          <a:xfrm>
            <a:off x="1631861" y="1160519"/>
            <a:ext cx="9077892" cy="711541"/>
          </a:xfrm>
          <a:prstGeom prst="rect">
            <a:avLst/>
          </a:prstGeom>
          <a:noFill/>
        </p:spPr>
        <p:txBody>
          <a:bodyPr wrap="square">
            <a:spAutoFit/>
          </a:bodyPr>
          <a:lstStyle/>
          <a:p>
            <a:pPr algn="ctr">
              <a:lnSpc>
                <a:spcPct val="115000"/>
              </a:lnSpc>
              <a:spcAft>
                <a:spcPts val="800"/>
              </a:spcAft>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For seniors, routines shaped most of their lives — not technology. So, if we're designing for them, we need to support that sense of structure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Neil Dsouza, Get Set Up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9CDA1F2-7475-0F2E-5D3D-14EEE3394DD0}"/>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Tree>
    <p:extLst>
      <p:ext uri="{BB962C8B-B14F-4D97-AF65-F5344CB8AC3E}">
        <p14:creationId xmlns:p14="http://schemas.microsoft.com/office/powerpoint/2010/main" val="2790933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BEBA5-4034-43F3-DF9E-8DFD3AE67C2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5165110-DAAF-2ECF-CA29-4751B11BE642}"/>
              </a:ext>
            </a:extLst>
          </p:cNvPr>
          <p:cNvGraphicFramePr>
            <a:graphicFrameLocks noGrp="1"/>
          </p:cNvGraphicFramePr>
          <p:nvPr>
            <p:extLst>
              <p:ext uri="{D42A27DB-BD31-4B8C-83A1-F6EECF244321}">
                <p14:modId xmlns:p14="http://schemas.microsoft.com/office/powerpoint/2010/main" val="2565853967"/>
              </p:ext>
            </p:extLst>
          </p:nvPr>
        </p:nvGraphicFramePr>
        <p:xfrm>
          <a:off x="338203" y="1813915"/>
          <a:ext cx="11574396" cy="4823682"/>
        </p:xfrm>
        <a:graphic>
          <a:graphicData uri="http://schemas.openxmlformats.org/drawingml/2006/table">
            <a:tbl>
              <a:tblPr firstRow="1" bandRow="1">
                <a:tableStyleId>{69012ECD-51FC-41F1-AA8D-1B2483CD663E}</a:tableStyleId>
              </a:tblPr>
              <a:tblGrid>
                <a:gridCol w="3612093">
                  <a:extLst>
                    <a:ext uri="{9D8B030D-6E8A-4147-A177-3AD203B41FA5}">
                      <a16:colId xmlns:a16="http://schemas.microsoft.com/office/drawing/2014/main" val="2221359430"/>
                    </a:ext>
                  </a:extLst>
                </a:gridCol>
                <a:gridCol w="4365918">
                  <a:extLst>
                    <a:ext uri="{9D8B030D-6E8A-4147-A177-3AD203B41FA5}">
                      <a16:colId xmlns:a16="http://schemas.microsoft.com/office/drawing/2014/main" val="3328806665"/>
                    </a:ext>
                  </a:extLst>
                </a:gridCol>
                <a:gridCol w="3596385">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Create Coherent Ecosystems &amp; Plan for Frictionless Entry and Exit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 adults struggle when required to jump between multiple platforms or interfaces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Users need clear understanding of where they are in the system and how to exit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Current reality: seniors must learn multiple disconnected systems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Eliminate unnecessary navigation between tools, platforms, or cognitive contexts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Integrate complementary functions within single, coherent experiences rather than forcing users to switch contexts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interoperable, seamless systems that work at the household level.</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clear entry points and exit pathways so users always know their location and how to leave.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Every additional disconnected system creates exponential learning burden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Map user journeys to identify and remove friction points where seniors must navigate between tools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single-interface experiences. redesign to consolidate experiences.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Build products that integrate with existing platforms, use consistent design patterns, create single sign-on and unified settings, design for household-level usability (caregivers + seniors)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36A2E00A-E5EE-DB01-7D56-A8A9DE8FB505}"/>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56388344-4F1C-36D7-410D-02DCC844E231}"/>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
        <p:nvSpPr>
          <p:cNvPr id="3" name="TextBox 2">
            <a:extLst>
              <a:ext uri="{FF2B5EF4-FFF2-40B4-BE49-F238E27FC236}">
                <a16:creationId xmlns:a16="http://schemas.microsoft.com/office/drawing/2014/main" id="{10F7AF50-3096-2C35-92ED-CDE7B9986E12}"/>
              </a:ext>
            </a:extLst>
          </p:cNvPr>
          <p:cNvSpPr txBox="1"/>
          <p:nvPr/>
        </p:nvSpPr>
        <p:spPr>
          <a:xfrm>
            <a:off x="1406740" y="1241361"/>
            <a:ext cx="9077892" cy="392993"/>
          </a:xfrm>
          <a:prstGeom prst="rect">
            <a:avLst/>
          </a:prstGeom>
          <a:noFill/>
        </p:spPr>
        <p:txBody>
          <a:bodyPr wrap="square">
            <a:spAutoFit/>
          </a:bodyPr>
          <a:lstStyle/>
          <a:p>
            <a:pPr algn="ctr">
              <a:lnSpc>
                <a:spcPct val="115000"/>
              </a:lnSpc>
              <a:spcAft>
                <a:spcPts val="800"/>
              </a:spcAft>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Fragmented interfaces fosters confusion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Observation</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5869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F3E6-47BB-CB00-C9FB-912243195CD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0F80841-2838-D7CF-227A-50517EF91555}"/>
              </a:ext>
            </a:extLst>
          </p:cNvPr>
          <p:cNvGraphicFramePr>
            <a:graphicFrameLocks noGrp="1"/>
          </p:cNvGraphicFramePr>
          <p:nvPr>
            <p:extLst>
              <p:ext uri="{D42A27DB-BD31-4B8C-83A1-F6EECF244321}">
                <p14:modId xmlns:p14="http://schemas.microsoft.com/office/powerpoint/2010/main" val="4094639801"/>
              </p:ext>
            </p:extLst>
          </p:nvPr>
        </p:nvGraphicFramePr>
        <p:xfrm>
          <a:off x="338203" y="1827638"/>
          <a:ext cx="11486365" cy="4695397"/>
        </p:xfrm>
        <a:graphic>
          <a:graphicData uri="http://schemas.openxmlformats.org/drawingml/2006/table">
            <a:tbl>
              <a:tblPr firstRow="1" bandRow="1">
                <a:tableStyleId>{69012ECD-51FC-41F1-AA8D-1B2483CD663E}</a:tableStyleId>
              </a:tblPr>
              <a:tblGrid>
                <a:gridCol w="3317341">
                  <a:extLst>
                    <a:ext uri="{9D8B030D-6E8A-4147-A177-3AD203B41FA5}">
                      <a16:colId xmlns:a16="http://schemas.microsoft.com/office/drawing/2014/main" val="2221359430"/>
                    </a:ext>
                  </a:extLst>
                </a:gridCol>
                <a:gridCol w="3227681">
                  <a:extLst>
                    <a:ext uri="{9D8B030D-6E8A-4147-A177-3AD203B41FA5}">
                      <a16:colId xmlns:a16="http://schemas.microsoft.com/office/drawing/2014/main" val="3328806665"/>
                    </a:ext>
                  </a:extLst>
                </a:gridCol>
                <a:gridCol w="4941343">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Trust-Building Through Transparency and Ongoing Support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54756">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Trust isn't just a feature — it's a learning condition: seniors must understand what's happening</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They rely on trusted intermediaries (family, brands, caregivers)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Technology evolves constantly; each change resets the learning curve</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Young users adapt quickly; older users need structured help</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ongoing learning opportunities that help users adapt to updates and new features without overwhelming them</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Reduce cognitive load by making systems seamless, consistent, and predictable over time.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Create onboarding that explicitly states: "Here's what this does," "Here's why you might want it," and "Here's how you stay in control"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plain language, not technical jargon, to explain privacy settings and data usage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When introducing updates or new features, provide clear guidance on what changed and why it matters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Offer pathways for users to build confidence as technology evolves—don't assume they'll "figure it out"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Maintain consistent interaction patterns even as features expand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EEA3CAE3-F770-D284-20FE-6D26CC5161A9}"/>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4F032A4F-08D4-957A-456A-DDCC841971E9}"/>
              </a:ext>
            </a:extLst>
          </p:cNvPr>
          <p:cNvSpPr txBox="1"/>
          <p:nvPr/>
        </p:nvSpPr>
        <p:spPr>
          <a:xfrm>
            <a:off x="1631861" y="1160519"/>
            <a:ext cx="9077892" cy="711541"/>
          </a:xfrm>
          <a:prstGeom prst="rect">
            <a:avLst/>
          </a:prstGeom>
          <a:noFill/>
        </p:spPr>
        <p:txBody>
          <a:bodyPr wrap="square">
            <a:spAutoFit/>
          </a:bodyPr>
          <a:lstStyle/>
          <a:p>
            <a:pPr algn="ctr">
              <a:lnSpc>
                <a:spcPct val="115000"/>
              </a:lnSpc>
              <a:spcAft>
                <a:spcPts val="800"/>
              </a:spcAft>
            </a:pPr>
            <a:r>
              <a:rPr lang="en-US" i="1" dirty="0">
                <a:latin typeface="Times New Roman" panose="02020603050405020304" pitchFamily="18" charset="0"/>
                <a:cs typeface="Times New Roman" panose="02020603050405020304" pitchFamily="18" charset="0"/>
              </a:rPr>
              <a:t>Recognize that trust is a learning condition — seniors must understand what's happening</a:t>
            </a:r>
            <a:r>
              <a:rPr lang="en-US" i="1" dirty="0">
                <a:effectLst/>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Brittne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Kakulla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AARP</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E6BC1155-9009-F01D-C380-32BB71764098}"/>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Tree>
    <p:extLst>
      <p:ext uri="{BB962C8B-B14F-4D97-AF65-F5344CB8AC3E}">
        <p14:creationId xmlns:p14="http://schemas.microsoft.com/office/powerpoint/2010/main" val="935618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A53E4-E607-DD55-20BC-30896DA178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AAC86C-B104-DC68-9505-DC2EF3180685}"/>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E57F0656-7DDA-E0DD-315D-8081B793C096}"/>
              </a:ext>
            </a:extLst>
          </p:cNvPr>
          <p:cNvSpPr txBox="1"/>
          <p:nvPr/>
        </p:nvSpPr>
        <p:spPr>
          <a:xfrm>
            <a:off x="2370898" y="2958102"/>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sp>
        <p:nvSpPr>
          <p:cNvPr id="5" name="TextBox 4">
            <a:extLst>
              <a:ext uri="{FF2B5EF4-FFF2-40B4-BE49-F238E27FC236}">
                <a16:creationId xmlns:a16="http://schemas.microsoft.com/office/drawing/2014/main" id="{DC29E8DB-57A5-3B8B-201D-8CA7AFD86EC4}"/>
              </a:ext>
            </a:extLst>
          </p:cNvPr>
          <p:cNvSpPr txBox="1"/>
          <p:nvPr/>
        </p:nvSpPr>
        <p:spPr>
          <a:xfrm>
            <a:off x="3634635" y="3990761"/>
            <a:ext cx="6185770" cy="711541"/>
          </a:xfrm>
          <a:prstGeom prst="rect">
            <a:avLst/>
          </a:prstGeom>
          <a:noFill/>
        </p:spPr>
        <p:txBody>
          <a:bodyPr wrap="square">
            <a:spAutoFit/>
          </a:bodyPr>
          <a:lstStyle/>
          <a:p>
            <a:pPr marL="0" marR="0" algn="ctr">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Design with seniors as primary decision-makers who control their own journey.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8391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BBCC3-69DB-6F7B-7711-8D27D18CC7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1D11D6A-C1B8-7702-36C6-A8F295B90BB3}"/>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07857EE-EB96-043D-882F-6486A41B2CB0}"/>
              </a:ext>
            </a:extLst>
          </p:cNvPr>
          <p:cNvSpPr txBox="1"/>
          <p:nvPr/>
        </p:nvSpPr>
        <p:spPr>
          <a:xfrm>
            <a:off x="876821" y="1225729"/>
            <a:ext cx="10421655" cy="646331"/>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Health goals are personal </a:t>
            </a:r>
            <a:r>
              <a:rPr lang="en-US" i="1" kern="0" dirty="0">
                <a:latin typeface="Times New Roman" panose="02020603050405020304" pitchFamily="18" charset="0"/>
                <a:ea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 they choose how to live well. Design should help them stay motivated to meet their own goals”</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721BB3D-923C-1638-3F46-57904E3247EF}"/>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F5F87480-7A33-8AC7-C6BC-FA73EDB0B5EE}"/>
              </a:ext>
            </a:extLst>
          </p:cNvPr>
          <p:cNvGraphicFramePr>
            <a:graphicFrameLocks noGrp="1"/>
          </p:cNvGraphicFramePr>
          <p:nvPr>
            <p:extLst>
              <p:ext uri="{D42A27DB-BD31-4B8C-83A1-F6EECF244321}">
                <p14:modId xmlns:p14="http://schemas.microsoft.com/office/powerpoint/2010/main" val="3228813761"/>
              </p:ext>
            </p:extLst>
          </p:nvPr>
        </p:nvGraphicFramePr>
        <p:xfrm>
          <a:off x="876821" y="1971029"/>
          <a:ext cx="10421655" cy="4823682"/>
        </p:xfrm>
        <a:graphic>
          <a:graphicData uri="http://schemas.openxmlformats.org/drawingml/2006/table">
            <a:tbl>
              <a:tblPr firstRow="1" bandRow="1">
                <a:tableStyleId>{69012ECD-51FC-41F1-AA8D-1B2483CD663E}</a:tableStyleId>
              </a:tblPr>
              <a:tblGrid>
                <a:gridCol w="3473885">
                  <a:extLst>
                    <a:ext uri="{9D8B030D-6E8A-4147-A177-3AD203B41FA5}">
                      <a16:colId xmlns:a16="http://schemas.microsoft.com/office/drawing/2014/main" val="2221359430"/>
                    </a:ext>
                  </a:extLst>
                </a:gridCol>
                <a:gridCol w="3473885">
                  <a:extLst>
                    <a:ext uri="{9D8B030D-6E8A-4147-A177-3AD203B41FA5}">
                      <a16:colId xmlns:a16="http://schemas.microsoft.com/office/drawing/2014/main" val="3328806665"/>
                    </a:ext>
                  </a:extLst>
                </a:gridCol>
                <a:gridCol w="3473885">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Self-Directed, Empowering Experiences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Goals are personal — seniors choose how to live well</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 expectation is not more tech, but integrated, empowering experiences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Agency and autonomy define perceived usefulness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Transparency emerged as a core comfort factor for senior adults—users need clear understanding of system behavior to feel in control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Users control data, settings, and permissions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should help them stay motivated to meet their own goals (not imposed goals)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Enable self-directed exploration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transparent explanations of how systems work so users can make informed, self-directed choices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Align with UDL's principle of engagement and multiple means of action and expression</a:t>
                      </a:r>
                      <a:endParaRPr lang="en-US" dirty="0">
                        <a:latin typeface="Times New Roman" panose="02020603050405020304" pitchFamily="18" charset="0"/>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58103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B8EB-7B44-6B81-5045-BA8CE022E17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5B4D1D-E047-A325-D973-53DA5C43A0E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3E3BCF1-F8EE-915E-4179-F8456FB0444C}"/>
              </a:ext>
            </a:extLst>
          </p:cNvPr>
          <p:cNvSpPr txBox="1"/>
          <p:nvPr/>
        </p:nvSpPr>
        <p:spPr>
          <a:xfrm>
            <a:off x="1631862" y="1225729"/>
            <a:ext cx="9177402" cy="646331"/>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Use digital systems to help senior adults stay socially connected. Free up caregiver time for human connection”</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5431523-D033-3A94-623F-90B283BDB6D5}"/>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E4A36D29-E649-E1FD-5B85-BBE471256451}"/>
              </a:ext>
            </a:extLst>
          </p:cNvPr>
          <p:cNvGraphicFramePr>
            <a:graphicFrameLocks noGrp="1"/>
          </p:cNvGraphicFramePr>
          <p:nvPr>
            <p:extLst>
              <p:ext uri="{D42A27DB-BD31-4B8C-83A1-F6EECF244321}">
                <p14:modId xmlns:p14="http://schemas.microsoft.com/office/powerpoint/2010/main" val="3757458203"/>
              </p:ext>
            </p:extLst>
          </p:nvPr>
        </p:nvGraphicFramePr>
        <p:xfrm>
          <a:off x="1631862" y="2167525"/>
          <a:ext cx="9177402" cy="3726402"/>
        </p:xfrm>
        <a:graphic>
          <a:graphicData uri="http://schemas.openxmlformats.org/drawingml/2006/table">
            <a:tbl>
              <a:tblPr firstRow="1" bandRow="1">
                <a:tableStyleId>{69012ECD-51FC-41F1-AA8D-1B2483CD663E}</a:tableStyleId>
              </a:tblPr>
              <a:tblGrid>
                <a:gridCol w="3059134">
                  <a:extLst>
                    <a:ext uri="{9D8B030D-6E8A-4147-A177-3AD203B41FA5}">
                      <a16:colId xmlns:a16="http://schemas.microsoft.com/office/drawing/2014/main" val="2221359430"/>
                    </a:ext>
                  </a:extLst>
                </a:gridCol>
                <a:gridCol w="3059134">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Position Seniors as Primary Users, Not Caregivers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Many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AgeTech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products make caregivers the primary user, reducing senior autonomy</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Automated monitoring should free up caregiver time for companionship, not replace human interaction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for the senior adult as the primary user; caregiver features should amplify human connection, not replace it.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 controls the interface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Minimize health monitoring to make it empowering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digital systems to stay socially connected and free caregiver time for human connection</a:t>
                      </a:r>
                      <a:endParaRPr lang="en-US" dirty="0">
                        <a:latin typeface="Times New Roman" panose="02020603050405020304" pitchFamily="18" charset="0"/>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711318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9AE10-4DCF-08BF-9CC7-F15A913213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45B53F-C16D-EDB0-7DCD-913A9ABA1734}"/>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DE2E167E-239B-4CE8-B15E-942A4B096350}"/>
              </a:ext>
            </a:extLst>
          </p:cNvPr>
          <p:cNvSpPr txBox="1"/>
          <p:nvPr/>
        </p:nvSpPr>
        <p:spPr>
          <a:xfrm>
            <a:off x="2032000" y="1225729"/>
            <a:ext cx="8669400" cy="646331"/>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AgeTech’s</a:t>
            </a:r>
            <a:r>
              <a:rPr lang="en-US" i="1" dirty="0">
                <a:latin typeface="Times New Roman" panose="02020603050405020304" pitchFamily="18" charset="0"/>
                <a:cs typeface="Times New Roman" panose="02020603050405020304" pitchFamily="18" charset="0"/>
              </a:rPr>
              <a:t> real value lies in enabling connection, autonomy, and purpose, not just clinical safety.”</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BAF7183-94DA-1438-1098-6F8F5FD21BEF}"/>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A7000A71-D3F8-871A-4042-94726566E372}"/>
              </a:ext>
            </a:extLst>
          </p:cNvPr>
          <p:cNvGraphicFramePr>
            <a:graphicFrameLocks noGrp="1"/>
          </p:cNvGraphicFramePr>
          <p:nvPr>
            <p:extLst>
              <p:ext uri="{D42A27DB-BD31-4B8C-83A1-F6EECF244321}">
                <p14:modId xmlns:p14="http://schemas.microsoft.com/office/powerpoint/2010/main" val="2876400946"/>
              </p:ext>
            </p:extLst>
          </p:nvPr>
        </p:nvGraphicFramePr>
        <p:xfrm>
          <a:off x="1631862" y="1964325"/>
          <a:ext cx="9177402" cy="4275042"/>
        </p:xfrm>
        <a:graphic>
          <a:graphicData uri="http://schemas.openxmlformats.org/drawingml/2006/table">
            <a:tbl>
              <a:tblPr firstRow="1" bandRow="1">
                <a:tableStyleId>{69012ECD-51FC-41F1-AA8D-1B2483CD663E}</a:tableStyleId>
              </a:tblPr>
              <a:tblGrid>
                <a:gridCol w="2863938">
                  <a:extLst>
                    <a:ext uri="{9D8B030D-6E8A-4147-A177-3AD203B41FA5}">
                      <a16:colId xmlns:a16="http://schemas.microsoft.com/office/drawing/2014/main" val="2221359430"/>
                    </a:ext>
                  </a:extLst>
                </a:gridCol>
                <a:gridCol w="3254330">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Connect to Purpose, Identity, and Contribution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Fundamental Needs:</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Dignity</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Connection &amp; Social Connectedness</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Agency &amp; Autonomy</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Social Identity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technology around fundamental needs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Emotional Drivers:</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Regret of missing out (especially with technology)</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Enjoyment of competition &amp; recognition</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Recognition as emotional reward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Enable sharing knowledge/experience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Support legacy-building</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Facilitate intergenerational connection</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features around contribution</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Build purposeful engagement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57691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DC1D2-C35D-BC61-EBFC-7262BF7B0F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567EB7-FFC9-10AC-F135-C8D8F8401393}"/>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D75435AD-598C-C8B5-E219-EE0AD7CBC782}"/>
              </a:ext>
            </a:extLst>
          </p:cNvPr>
          <p:cNvSpPr txBox="1"/>
          <p:nvPr/>
        </p:nvSpPr>
        <p:spPr>
          <a:xfrm>
            <a:off x="1631862" y="1225729"/>
            <a:ext cx="9177402" cy="923330"/>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Ageism in design is not just attitudinal—it is infrastructural, embedded in how problems are defined and who is invited to solve them”</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Ageism in the Design of Digital Technology (Mannheim, I., et al. (2022)) </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D25E959B-E1CE-9AAC-68F7-19C0E0E66258}"/>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45E8847B-56A2-38F4-7006-3245460BAFFE}"/>
              </a:ext>
            </a:extLst>
          </p:cNvPr>
          <p:cNvGraphicFramePr>
            <a:graphicFrameLocks noGrp="1"/>
          </p:cNvGraphicFramePr>
          <p:nvPr>
            <p:extLst>
              <p:ext uri="{D42A27DB-BD31-4B8C-83A1-F6EECF244321}">
                <p14:modId xmlns:p14="http://schemas.microsoft.com/office/powerpoint/2010/main" val="3988568709"/>
              </p:ext>
            </p:extLst>
          </p:nvPr>
        </p:nvGraphicFramePr>
        <p:xfrm>
          <a:off x="1631862" y="2167525"/>
          <a:ext cx="9177402" cy="4275042"/>
        </p:xfrm>
        <a:graphic>
          <a:graphicData uri="http://schemas.openxmlformats.org/drawingml/2006/table">
            <a:tbl>
              <a:tblPr firstRow="1" bandRow="1">
                <a:tableStyleId>{69012ECD-51FC-41F1-AA8D-1B2483CD663E}</a:tableStyleId>
              </a:tblPr>
              <a:tblGrid>
                <a:gridCol w="2863938">
                  <a:extLst>
                    <a:ext uri="{9D8B030D-6E8A-4147-A177-3AD203B41FA5}">
                      <a16:colId xmlns:a16="http://schemas.microsoft.com/office/drawing/2014/main" val="2221359430"/>
                    </a:ext>
                  </a:extLst>
                </a:gridCol>
                <a:gridCol w="3254330">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Co-Design WITH Senior Adults, Not FOR Them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Learning design can offer frameworks (like UDL, participatory pedagogy, formative feedback cycles) to structure co-creation processes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Accessibility seen as integral, not an add-on — similar to how inclusive learning design treats UDL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Include seniors as active participants from the beginning, integrating accessibility as integral (not add-on).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Recruit senior advisors for design team, conduct participatory design workshops, test early and often, compensate participants fairly, integrate what older adults know and prefer into design principles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92221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D4DE-E0E9-9BA1-A751-223DF883E60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D02F44-787F-2582-FC1F-93166F89FC08}"/>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555CCB09-7BA0-98BA-C30D-9BCF3EDEB801}"/>
              </a:ext>
            </a:extLst>
          </p:cNvPr>
          <p:cNvSpPr txBox="1"/>
          <p:nvPr/>
        </p:nvSpPr>
        <p:spPr>
          <a:xfrm>
            <a:off x="2370898" y="2958102"/>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sp>
        <p:nvSpPr>
          <p:cNvPr id="5" name="TextBox 4">
            <a:extLst>
              <a:ext uri="{FF2B5EF4-FFF2-40B4-BE49-F238E27FC236}">
                <a16:creationId xmlns:a16="http://schemas.microsoft.com/office/drawing/2014/main" id="{3EAA2AA3-BA14-A442-5B57-BE2FDC65D9F4}"/>
              </a:ext>
            </a:extLst>
          </p:cNvPr>
          <p:cNvSpPr txBox="1"/>
          <p:nvPr/>
        </p:nvSpPr>
        <p:spPr>
          <a:xfrm>
            <a:off x="3685435" y="3597061"/>
            <a:ext cx="6185770"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Address multiple dimensions of wellbeing, shifting from health monitoring to human enabling.</a:t>
            </a:r>
          </a:p>
        </p:txBody>
      </p:sp>
      <p:sp>
        <p:nvSpPr>
          <p:cNvPr id="6" name="TextBox 5">
            <a:extLst>
              <a:ext uri="{FF2B5EF4-FFF2-40B4-BE49-F238E27FC236}">
                <a16:creationId xmlns:a16="http://schemas.microsoft.com/office/drawing/2014/main" id="{20A948AC-966D-7181-9CDC-D403FDDA3346}"/>
              </a:ext>
            </a:extLst>
          </p:cNvPr>
          <p:cNvSpPr txBox="1"/>
          <p:nvPr/>
        </p:nvSpPr>
        <p:spPr>
          <a:xfrm>
            <a:off x="3636722" y="4660037"/>
            <a:ext cx="6096000" cy="1754326"/>
          </a:xfrm>
          <a:prstGeom prst="rect">
            <a:avLst/>
          </a:prstGeom>
          <a:noFill/>
        </p:spPr>
        <p:txBody>
          <a:bodyPr wrap="square">
            <a:spAutoFit/>
          </a:bodyPr>
          <a:lstStyle/>
          <a:p>
            <a:pPr algn="ctr">
              <a:buNone/>
            </a:pPr>
            <a:r>
              <a:rPr lang="en-US" b="1" dirty="0">
                <a:latin typeface="Times New Roman" panose="02020603050405020304" pitchFamily="18" charset="0"/>
                <a:cs typeface="Times New Roman" panose="02020603050405020304" pitchFamily="18" charset="0"/>
              </a:rPr>
              <a:t>The Four Domains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Physical:</a:t>
            </a:r>
            <a:r>
              <a:rPr lang="en-US" dirty="0">
                <a:latin typeface="Times New Roman" panose="02020603050405020304" pitchFamily="18" charset="0"/>
                <a:cs typeface="Times New Roman" panose="02020603050405020304" pitchFamily="18" charset="0"/>
              </a:rPr>
              <a:t> Activity, diet, health management</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Cognitive:</a:t>
            </a:r>
            <a:r>
              <a:rPr lang="en-US" dirty="0">
                <a:latin typeface="Times New Roman" panose="02020603050405020304" pitchFamily="18" charset="0"/>
                <a:cs typeface="Times New Roman" panose="02020603050405020304" pitchFamily="18" charset="0"/>
              </a:rPr>
              <a:t> Self-awareness, outlook, learning, meaning</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Social:</a:t>
            </a:r>
            <a:r>
              <a:rPr lang="en-US" dirty="0">
                <a:latin typeface="Times New Roman" panose="02020603050405020304" pitchFamily="18" charset="0"/>
                <a:cs typeface="Times New Roman" panose="02020603050405020304" pitchFamily="18" charset="0"/>
              </a:rPr>
              <a:t> Support networks, community, connection, and passive social presence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Identity:</a:t>
            </a:r>
            <a:r>
              <a:rPr lang="en-US" dirty="0">
                <a:latin typeface="Times New Roman" panose="02020603050405020304" pitchFamily="18" charset="0"/>
                <a:cs typeface="Times New Roman" panose="02020603050405020304" pitchFamily="18" charset="0"/>
              </a:rPr>
              <a:t> Purpose, contribution, legacy, continued growth</a:t>
            </a:r>
          </a:p>
        </p:txBody>
      </p:sp>
    </p:spTree>
    <p:extLst>
      <p:ext uri="{BB962C8B-B14F-4D97-AF65-F5344CB8AC3E}">
        <p14:creationId xmlns:p14="http://schemas.microsoft.com/office/powerpoint/2010/main" val="3575981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2A122-3372-DC3F-D2E1-6EDC3EE56E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795D2E-8E9C-081A-96C0-53E1EBA3EF52}"/>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A32CDC5B-1BA4-5BE1-93E3-A79D6F9EE232}"/>
              </a:ext>
            </a:extLst>
          </p:cNvPr>
          <p:cNvSpPr txBox="1"/>
          <p:nvPr/>
        </p:nvSpPr>
        <p:spPr>
          <a:xfrm>
            <a:off x="1631862" y="1038879"/>
            <a:ext cx="9177402" cy="646331"/>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AgeTech's</a:t>
            </a:r>
            <a:r>
              <a:rPr lang="en-US" i="1" dirty="0">
                <a:latin typeface="Times New Roman" panose="02020603050405020304" pitchFamily="18" charset="0"/>
                <a:cs typeface="Times New Roman" panose="02020603050405020304" pitchFamily="18" charset="0"/>
              </a:rPr>
              <a:t> real value lies in enabling connection, autonomy, and purpose, not just clinical safety." —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FF4AA7E-F1AB-D885-A98B-638A716AF72C}"/>
              </a:ext>
            </a:extLst>
          </p:cNvPr>
          <p:cNvSpPr txBox="1"/>
          <p:nvPr/>
        </p:nvSpPr>
        <p:spPr>
          <a:xfrm>
            <a:off x="1631862" y="316499"/>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588271BF-8819-4A1E-71D7-577F7D5D9C40}"/>
              </a:ext>
            </a:extLst>
          </p:cNvPr>
          <p:cNvGraphicFramePr>
            <a:graphicFrameLocks noGrp="1"/>
          </p:cNvGraphicFramePr>
          <p:nvPr>
            <p:extLst>
              <p:ext uri="{D42A27DB-BD31-4B8C-83A1-F6EECF244321}">
                <p14:modId xmlns:p14="http://schemas.microsoft.com/office/powerpoint/2010/main" val="1980195965"/>
              </p:ext>
            </p:extLst>
          </p:nvPr>
        </p:nvGraphicFramePr>
        <p:xfrm>
          <a:off x="1631862" y="2167525"/>
          <a:ext cx="9177402" cy="4549362"/>
        </p:xfrm>
        <a:graphic>
          <a:graphicData uri="http://schemas.openxmlformats.org/drawingml/2006/table">
            <a:tbl>
              <a:tblPr firstRow="1" bandRow="1">
                <a:tableStyleId>{69012ECD-51FC-41F1-AA8D-1B2483CD663E}</a:tableStyleId>
              </a:tblPr>
              <a:tblGrid>
                <a:gridCol w="2863938">
                  <a:extLst>
                    <a:ext uri="{9D8B030D-6E8A-4147-A177-3AD203B41FA5}">
                      <a16:colId xmlns:a16="http://schemas.microsoft.com/office/drawing/2014/main" val="2221359430"/>
                    </a:ext>
                  </a:extLst>
                </a:gridCol>
                <a:gridCol w="3254330">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All Four Domains of Wellbeing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Current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AgeTech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focuses on physical health (falls, medication, monitoring) Successful aging requires attention to all four domains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Social connection includes both active participation AND passive social presence (ambient companionship that addresses loneliness)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Health-focused products must expand beyond physical metrics to include cognitive, social, and purpose dimensions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Social domain is not just about active participation—passive social presence is a legitimate form of connection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If health-focused, add social or learning features If communication-focused, add purpose/contribution elements Design for multiple levels of social engagement, including passive observation with social awareness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455791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14A4-E07D-1D3E-A0BB-CE3F215494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A93554-D302-4F60-2310-1914F87206F3}"/>
              </a:ext>
            </a:extLst>
          </p:cNvPr>
          <p:cNvSpPr txBox="1"/>
          <p:nvPr/>
        </p:nvSpPr>
        <p:spPr>
          <a:xfrm>
            <a:off x="253130" y="303799"/>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7DBFB7B-6663-C164-FB30-3B502111090E}"/>
              </a:ext>
            </a:extLst>
          </p:cNvPr>
          <p:cNvSpPr txBox="1"/>
          <p:nvPr/>
        </p:nvSpPr>
        <p:spPr>
          <a:xfrm>
            <a:off x="1104900" y="871664"/>
            <a:ext cx="11049000" cy="369332"/>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"The most powerful </a:t>
            </a:r>
            <a:r>
              <a:rPr lang="en-US" i="1" dirty="0" err="1">
                <a:latin typeface="Times New Roman" panose="02020603050405020304" pitchFamily="18" charset="0"/>
                <a:cs typeface="Times New Roman" panose="02020603050405020304" pitchFamily="18" charset="0"/>
              </a:rPr>
              <a:t>AgeTech</a:t>
            </a:r>
            <a:r>
              <a:rPr lang="en-US" i="1" dirty="0">
                <a:latin typeface="Times New Roman" panose="02020603050405020304" pitchFamily="18" charset="0"/>
                <a:cs typeface="Times New Roman" panose="02020603050405020304" pitchFamily="18" charset="0"/>
              </a:rPr>
              <a:t> products bridge online engagement and real-life belonging." —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Brittne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Kakulla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AARP</a:t>
            </a:r>
            <a:endParaRPr lang="en-US"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F718641-E222-29C7-FE7B-91ADB2D1A9BA}"/>
              </a:ext>
            </a:extLst>
          </p:cNvPr>
          <p:cNvSpPr txBox="1"/>
          <p:nvPr/>
        </p:nvSpPr>
        <p:spPr>
          <a:xfrm>
            <a:off x="1631862" y="303799"/>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A406250C-D5F5-4494-41B3-32B20973616F}"/>
              </a:ext>
            </a:extLst>
          </p:cNvPr>
          <p:cNvGraphicFramePr>
            <a:graphicFrameLocks noGrp="1"/>
          </p:cNvGraphicFramePr>
          <p:nvPr>
            <p:extLst>
              <p:ext uri="{D42A27DB-BD31-4B8C-83A1-F6EECF244321}">
                <p14:modId xmlns:p14="http://schemas.microsoft.com/office/powerpoint/2010/main" val="2084951017"/>
              </p:ext>
            </p:extLst>
          </p:nvPr>
        </p:nvGraphicFramePr>
        <p:xfrm>
          <a:off x="165100" y="1311641"/>
          <a:ext cx="11861799" cy="5407660"/>
        </p:xfrm>
        <a:graphic>
          <a:graphicData uri="http://schemas.openxmlformats.org/drawingml/2006/table">
            <a:tbl>
              <a:tblPr firstRow="1" bandRow="1">
                <a:tableStyleId>{69012ECD-51FC-41F1-AA8D-1B2483CD663E}</a:tableStyleId>
              </a:tblPr>
              <a:tblGrid>
                <a:gridCol w="3238500">
                  <a:extLst>
                    <a:ext uri="{9D8B030D-6E8A-4147-A177-3AD203B41FA5}">
                      <a16:colId xmlns:a16="http://schemas.microsoft.com/office/drawing/2014/main" val="2221359430"/>
                    </a:ext>
                  </a:extLst>
                </a:gridCol>
                <a:gridCol w="3581400">
                  <a:extLst>
                    <a:ext uri="{9D8B030D-6E8A-4147-A177-3AD203B41FA5}">
                      <a16:colId xmlns:a16="http://schemas.microsoft.com/office/drawing/2014/main" val="3328806665"/>
                    </a:ext>
                  </a:extLst>
                </a:gridCol>
                <a:gridCol w="5041899">
                  <a:extLst>
                    <a:ext uri="{9D8B030D-6E8A-4147-A177-3AD203B41FA5}">
                      <a16:colId xmlns:a16="http://schemas.microsoft.com/office/drawing/2014/main" val="2361075732"/>
                    </a:ext>
                  </a:extLst>
                </a:gridCol>
              </a:tblGrid>
              <a:tr h="53340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Socially-Connected Aging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393700">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Tiered participation allows users to engage at their comfort level: passive observation → light interaction → active participation</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 most powerful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AgeTech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products bridge online engagement and real-life belonging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Role of technology is seen as an enabler of social learning, not a replacement for human interaction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Bridge online engagement and real-life belonging; position technology as enabler of social learning and companionship.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Move beyond engagement metrics to belonging and companionship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for loneliness means creating ambient social presence—users can feel "not alone" without pressure to actively engage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Not all social experiences require video, audio, or active posting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Facilitate meaningful connections ("find your tribe")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Move beyond engagement to belonging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Encourage intergenerational and community-based participation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Create tiered participation models: (1) passive observation (watch/listen with awareness of others), (2) light interaction (chat while consuming), (3) active participation (full audio/video engagement)</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streaming/content platforms with visible social elements that don't require contribution</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Allow users to feel 'not alone' without pressure to actively engage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social learning theory as design lens for active learning features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69052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6674-05CA-24B4-0AA1-EEAAD4F1F0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96FE5E-5A63-1A54-1A7F-6A9ABB29464A}"/>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12E2936D-2221-CD06-CAE5-8731E8628B5F}"/>
              </a:ext>
            </a:extLst>
          </p:cNvPr>
          <p:cNvSpPr txBox="1"/>
          <p:nvPr/>
        </p:nvSpPr>
        <p:spPr>
          <a:xfrm>
            <a:off x="1189973" y="936221"/>
            <a:ext cx="10544827" cy="646331"/>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 Only a few projects integrate psychosocial or cultural dimensions of aging—focus remains on usability and safety. " —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Ageism in the Design of Digital Technology (Mannheim, I., et al. (2022)) </a:t>
            </a:r>
            <a:endParaRPr lang="en-US"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5BFCF72-C1F7-C9B6-617D-8E2BAC92672A}"/>
              </a:ext>
            </a:extLst>
          </p:cNvPr>
          <p:cNvSpPr txBox="1"/>
          <p:nvPr/>
        </p:nvSpPr>
        <p:spPr>
          <a:xfrm>
            <a:off x="1631862" y="316499"/>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8E59513B-DA83-98E9-BD3F-A5A3F9F607A8}"/>
              </a:ext>
            </a:extLst>
          </p:cNvPr>
          <p:cNvGraphicFramePr>
            <a:graphicFrameLocks noGrp="1"/>
          </p:cNvGraphicFramePr>
          <p:nvPr>
            <p:extLst>
              <p:ext uri="{D42A27DB-BD31-4B8C-83A1-F6EECF244321}">
                <p14:modId xmlns:p14="http://schemas.microsoft.com/office/powerpoint/2010/main" val="1492462260"/>
              </p:ext>
            </p:extLst>
          </p:nvPr>
        </p:nvGraphicFramePr>
        <p:xfrm>
          <a:off x="338203" y="1685210"/>
          <a:ext cx="11574396" cy="4550775"/>
        </p:xfrm>
        <a:graphic>
          <a:graphicData uri="http://schemas.openxmlformats.org/drawingml/2006/table">
            <a:tbl>
              <a:tblPr firstRow="1" bandRow="1">
                <a:tableStyleId>{69012ECD-51FC-41F1-AA8D-1B2483CD663E}</a:tableStyleId>
              </a:tblPr>
              <a:tblGrid>
                <a:gridCol w="3611954">
                  <a:extLst>
                    <a:ext uri="{9D8B030D-6E8A-4147-A177-3AD203B41FA5}">
                      <a16:colId xmlns:a16="http://schemas.microsoft.com/office/drawing/2014/main" val="2221359430"/>
                    </a:ext>
                  </a:extLst>
                </a:gridCol>
                <a:gridCol w="4104310">
                  <a:extLst>
                    <a:ext uri="{9D8B030D-6E8A-4147-A177-3AD203B41FA5}">
                      <a16:colId xmlns:a16="http://schemas.microsoft.com/office/drawing/2014/main" val="3328806665"/>
                    </a:ext>
                  </a:extLst>
                </a:gridCol>
                <a:gridCol w="3858132">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Include Cultural, Economic, and Contextual Accessibility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Accessibility isn't just usability and safety</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Must include psychological dimension (how does it make them feel?), cultural dimension (how is aging and technology interpreted within context?), experiential design (supporting living well, not just aging safely)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Extend accessibility beyond interface to include cultural and experiential dimensions.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Psychological dimension: Instead of just can they use it? Ask how does it make them feel?</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Experiential and emotional design: Creating technology that supports living well, not just aging safely.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Cultural dimensions: How is aging and technology interpreted within context?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Error prevention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Joy enablement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Can they use it safely?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 </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Does it make hem feel capable and valued?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Is it accessible?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Is it meaningful and empowering?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Is it usable?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Does it enrich identity, purpose, and connection?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261019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81381-9651-F113-04D3-E2D1890732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83F38A-535C-FF73-E735-AE325CCB560D}"/>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D1D15802-267F-BEAB-5C33-6815C5F96601}"/>
              </a:ext>
            </a:extLst>
          </p:cNvPr>
          <p:cNvSpPr txBox="1"/>
          <p:nvPr/>
        </p:nvSpPr>
        <p:spPr>
          <a:xfrm>
            <a:off x="2370898" y="2958102"/>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MEANINGFUL ENGAGEMENT, NOT JUST TIME-FILLING</a:t>
            </a:r>
            <a:endParaRPr lang="en-US" sz="2400" dirty="0">
              <a:latin typeface="Bangla MN" pitchFamily="2" charset="0"/>
              <a:cs typeface="Bangla MN" pitchFamily="2" charset="0"/>
            </a:endParaRPr>
          </a:p>
        </p:txBody>
      </p:sp>
      <p:sp>
        <p:nvSpPr>
          <p:cNvPr id="5" name="TextBox 4">
            <a:extLst>
              <a:ext uri="{FF2B5EF4-FFF2-40B4-BE49-F238E27FC236}">
                <a16:creationId xmlns:a16="http://schemas.microsoft.com/office/drawing/2014/main" id="{9DAEA23A-C91E-9267-1F58-5037F5653B43}"/>
              </a:ext>
            </a:extLst>
          </p:cNvPr>
          <p:cNvSpPr txBox="1"/>
          <p:nvPr/>
        </p:nvSpPr>
        <p:spPr>
          <a:xfrm>
            <a:off x="3413170" y="3937000"/>
            <a:ext cx="6185770" cy="1453411"/>
          </a:xfrm>
          <a:prstGeom prst="rect">
            <a:avLst/>
          </a:prstGeom>
          <a:noFill/>
        </p:spPr>
        <p:txBody>
          <a:bodyPr wrap="square">
            <a:spAutoFit/>
          </a:bodyPr>
          <a:lstStyle/>
          <a:p>
            <a:pPr algn="ctr">
              <a:lnSpc>
                <a:spcPct val="115000"/>
              </a:lnSpc>
              <a:spcAft>
                <a:spcPts val="800"/>
              </a:spcAft>
            </a:pPr>
            <a:r>
              <a:rPr lang="en-US" dirty="0">
                <a:latin typeface="Times New Roman" panose="02020603050405020304" pitchFamily="18" charset="0"/>
                <a:cs typeface="Times New Roman" panose="02020603050405020304" pitchFamily="18" charset="0"/>
              </a:rPr>
              <a:t>Motivation among seniors is intrinsic and wellbeing-oriented (joy, mastery, connection) rather than extrinsic (points, achievements)</a:t>
            </a:r>
          </a:p>
          <a:p>
            <a:pPr marL="0" marR="0" algn="ctr">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24914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42F27-7936-4C9F-F81C-6284627276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2E62648-76F7-140F-8206-EF1167DE864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E33EF87F-B637-795B-B186-560C98671BFC}"/>
              </a:ext>
            </a:extLst>
          </p:cNvPr>
          <p:cNvSpPr txBox="1"/>
          <p:nvPr/>
        </p:nvSpPr>
        <p:spPr>
          <a:xfrm>
            <a:off x="1189973" y="1194242"/>
            <a:ext cx="10544827" cy="385298"/>
          </a:xfrm>
          <a:prstGeom prst="rect">
            <a:avLst/>
          </a:prstGeom>
          <a:noFill/>
        </p:spPr>
        <p:txBody>
          <a:bodyPr wrap="square">
            <a:spAutoFit/>
          </a:bodyPr>
          <a:lstStyle/>
          <a:p>
            <a:pPr algn="ctr">
              <a:lnSpc>
                <a:spcPct val="115000"/>
              </a:lnSpc>
              <a:spcAft>
                <a:spcPts val="800"/>
              </a:spcAft>
            </a:pPr>
            <a:r>
              <a:rPr lang="en-US" kern="0" dirty="0">
                <a:latin typeface="Times New Roman" panose="02020603050405020304" pitchFamily="18" charset="0"/>
                <a:ea typeface="Times New Roman" panose="02020603050405020304" pitchFamily="18" charset="0"/>
                <a:cs typeface="Times New Roman" panose="02020603050405020304" pitchFamily="18" charset="0"/>
              </a:rPr>
              <a:t>"Seniors want to save time, money, and stay healthy — but let them control how." — User research </a:t>
            </a:r>
          </a:p>
        </p:txBody>
      </p:sp>
      <p:sp>
        <p:nvSpPr>
          <p:cNvPr id="9" name="TextBox 8">
            <a:extLst>
              <a:ext uri="{FF2B5EF4-FFF2-40B4-BE49-F238E27FC236}">
                <a16:creationId xmlns:a16="http://schemas.microsoft.com/office/drawing/2014/main" id="{EA120C86-930B-C126-DCF8-9EAB84C9F1DF}"/>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MEANINGFUL ENGAGEMENT, NOT JUST TIME-FILLING</a:t>
            </a:r>
          </a:p>
        </p:txBody>
      </p:sp>
      <p:graphicFrame>
        <p:nvGraphicFramePr>
          <p:cNvPr id="12" name="Table 11">
            <a:extLst>
              <a:ext uri="{FF2B5EF4-FFF2-40B4-BE49-F238E27FC236}">
                <a16:creationId xmlns:a16="http://schemas.microsoft.com/office/drawing/2014/main" id="{7F24B436-C633-EB69-8CE6-31BE1F9BE8D2}"/>
              </a:ext>
            </a:extLst>
          </p:cNvPr>
          <p:cNvGraphicFramePr>
            <a:graphicFrameLocks noGrp="1"/>
          </p:cNvGraphicFramePr>
          <p:nvPr>
            <p:extLst>
              <p:ext uri="{D42A27DB-BD31-4B8C-83A1-F6EECF244321}">
                <p14:modId xmlns:p14="http://schemas.microsoft.com/office/powerpoint/2010/main" val="2827801227"/>
              </p:ext>
            </p:extLst>
          </p:nvPr>
        </p:nvGraphicFramePr>
        <p:xfrm>
          <a:off x="308802" y="1711984"/>
          <a:ext cx="11574396" cy="5146016"/>
        </p:xfrm>
        <a:graphic>
          <a:graphicData uri="http://schemas.openxmlformats.org/drawingml/2006/table">
            <a:tbl>
              <a:tblPr firstRow="1" bandRow="1">
                <a:tableStyleId>{69012ECD-51FC-41F1-AA8D-1B2483CD663E}</a:tableStyleId>
              </a:tblPr>
              <a:tblGrid>
                <a:gridCol w="3789297">
                  <a:extLst>
                    <a:ext uri="{9D8B030D-6E8A-4147-A177-3AD203B41FA5}">
                      <a16:colId xmlns:a16="http://schemas.microsoft.com/office/drawing/2014/main" val="2221359430"/>
                    </a:ext>
                  </a:extLst>
                </a:gridCol>
                <a:gridCol w="3594100">
                  <a:extLst>
                    <a:ext uri="{9D8B030D-6E8A-4147-A177-3AD203B41FA5}">
                      <a16:colId xmlns:a16="http://schemas.microsoft.com/office/drawing/2014/main" val="3328806665"/>
                    </a:ext>
                  </a:extLst>
                </a:gridCol>
                <a:gridCol w="4190999">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Intrinsic Motivation and Wellbeing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Seniors prefer structured engagement on their terms (scheduled programming model) rather than manipulative tactics designed to maximize time-on-platform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Most tech is designed to maximize engagement metrics (time on site, clicks, opens); senior adults need tech designed to maximize value per unit of time invested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Seniors have finite energy and time—engagement should align with their goals, not exploit their attention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Distinguish between engagement (time spent) and value (outcomes achieved)</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Scheduled, predictable engagement patterns respect user autonomy and routines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Experiential and emotional design: Creating technology that supports living well, not just aging safely.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Cultural dimensions: How is aging and technology interpreted within context?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Enable graceful exits: Make it easy to pause, save, and return without guilt or pressure tactics ("You'll lose your streak!")</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Respect routines: Provide scheduled programming or content windows users can plan around (like TV), not infinite scrolling or FOMO-driven notifications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User-controlled notifications: Let users set their own reminder preferences; default to less, not more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Support rewatching: Design for repetition—easy bookmarking, "watch again" options, building on prior viewing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843580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6821-83D5-D4BF-D88C-C823EBF70D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41992B-2BB1-BF00-D34C-56ABBB90E977}"/>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454E444B-9B29-3892-7A15-D048BB833096}"/>
              </a:ext>
            </a:extLst>
          </p:cNvPr>
          <p:cNvSpPr txBox="1"/>
          <p:nvPr/>
        </p:nvSpPr>
        <p:spPr>
          <a:xfrm>
            <a:off x="2370898" y="2958102"/>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sp>
        <p:nvSpPr>
          <p:cNvPr id="5" name="TextBox 4">
            <a:extLst>
              <a:ext uri="{FF2B5EF4-FFF2-40B4-BE49-F238E27FC236}">
                <a16:creationId xmlns:a16="http://schemas.microsoft.com/office/drawing/2014/main" id="{F5D52241-5448-1CD6-163E-59536271BDB0}"/>
              </a:ext>
            </a:extLst>
          </p:cNvPr>
          <p:cNvSpPr txBox="1"/>
          <p:nvPr/>
        </p:nvSpPr>
        <p:spPr>
          <a:xfrm>
            <a:off x="3413170" y="3937000"/>
            <a:ext cx="6185770" cy="713722"/>
          </a:xfrm>
          <a:prstGeom prst="rect">
            <a:avLst/>
          </a:prstGeom>
          <a:noFill/>
        </p:spPr>
        <p:txBody>
          <a:bodyPr wrap="square">
            <a:spAutoFit/>
          </a:bodyPr>
          <a:lstStyle/>
          <a:p>
            <a:pPr algn="ctr">
              <a:lnSpc>
                <a:spcPct val="115000"/>
              </a:lnSpc>
              <a:spcAft>
                <a:spcPts val="800"/>
              </a:spcAft>
            </a:pPr>
            <a:r>
              <a:rPr lang="en-US" dirty="0">
                <a:latin typeface="Times New Roman" panose="02020603050405020304" pitchFamily="18" charset="0"/>
                <a:cs typeface="Times New Roman" panose="02020603050405020304" pitchFamily="18" charset="0"/>
              </a:rPr>
              <a:t>Design flexible systems that respect dignity while accommodating diverse capabilities.</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50093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4547-1B87-7528-12A4-F7AA0D51F43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50605D-B1E5-3247-7FAB-7812198B9DD3}"/>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C6CFA569-7092-92B2-508D-96D641828EFE}"/>
              </a:ext>
            </a:extLst>
          </p:cNvPr>
          <p:cNvSpPr txBox="1"/>
          <p:nvPr/>
        </p:nvSpPr>
        <p:spPr>
          <a:xfrm>
            <a:off x="1631862" y="316499"/>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graphicFrame>
        <p:nvGraphicFramePr>
          <p:cNvPr id="12" name="Table 11">
            <a:extLst>
              <a:ext uri="{FF2B5EF4-FFF2-40B4-BE49-F238E27FC236}">
                <a16:creationId xmlns:a16="http://schemas.microsoft.com/office/drawing/2014/main" id="{D27AC82C-FD59-C598-2F5C-1322ED0CCD77}"/>
              </a:ext>
            </a:extLst>
          </p:cNvPr>
          <p:cNvGraphicFramePr>
            <a:graphicFrameLocks noGrp="1"/>
          </p:cNvGraphicFramePr>
          <p:nvPr>
            <p:extLst>
              <p:ext uri="{D42A27DB-BD31-4B8C-83A1-F6EECF244321}">
                <p14:modId xmlns:p14="http://schemas.microsoft.com/office/powerpoint/2010/main" val="3259427755"/>
              </p:ext>
            </p:extLst>
          </p:nvPr>
        </p:nvGraphicFramePr>
        <p:xfrm>
          <a:off x="308802" y="1711984"/>
          <a:ext cx="11574396" cy="4597376"/>
        </p:xfrm>
        <a:graphic>
          <a:graphicData uri="http://schemas.openxmlformats.org/drawingml/2006/table">
            <a:tbl>
              <a:tblPr firstRow="1" bandRow="1">
                <a:tableStyleId>{69012ECD-51FC-41F1-AA8D-1B2483CD663E}</a:tableStyleId>
              </a:tblPr>
              <a:tblGrid>
                <a:gridCol w="3789297">
                  <a:extLst>
                    <a:ext uri="{9D8B030D-6E8A-4147-A177-3AD203B41FA5}">
                      <a16:colId xmlns:a16="http://schemas.microsoft.com/office/drawing/2014/main" val="2221359430"/>
                    </a:ext>
                  </a:extLst>
                </a:gridCol>
                <a:gridCol w="3594100">
                  <a:extLst>
                    <a:ext uri="{9D8B030D-6E8A-4147-A177-3AD203B41FA5}">
                      <a16:colId xmlns:a16="http://schemas.microsoft.com/office/drawing/2014/main" val="3328806665"/>
                    </a:ext>
                  </a:extLst>
                </a:gridCol>
                <a:gridCol w="4190999">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Adaptation, Not Perfection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Successful aging ≠ maintaining peak function; it means engaging while accepting natural changes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Older adults are positioned as lacking ability rather than possessing unique experience</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Techno-solutionism tries to "solve" aging rather than supporting living well while aging Deficit narratives create paternalistic designs that reduce autonomy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Adaptation should be expected and designed for, not treated as edge case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design around capability and experience, not deficits and decline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Technology should adapt to users, not force users to maintain static capabilities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Support living well while aging, not "fixing" or "solving" aging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Adjustable interfaces that accommodate changing needs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Multiple interaction modes (visual, auditory, tactile) users can switch between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Graceful degradation—features remain accessible as abilities change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Technology adapts as users' capabilities change, without requiring new products or major relearning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features around what users can do and want to achieve, not what they can no longer do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2" name="TextBox 1">
            <a:extLst>
              <a:ext uri="{FF2B5EF4-FFF2-40B4-BE49-F238E27FC236}">
                <a16:creationId xmlns:a16="http://schemas.microsoft.com/office/drawing/2014/main" id="{0DCDA8C0-61B7-F3AF-EC2E-F8F3EE6FC161}"/>
              </a:ext>
            </a:extLst>
          </p:cNvPr>
          <p:cNvSpPr txBox="1"/>
          <p:nvPr/>
        </p:nvSpPr>
        <p:spPr>
          <a:xfrm>
            <a:off x="469901" y="968075"/>
            <a:ext cx="11383896"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Older adults are often framed as passive, technophobic, or dependent, leading to paternalistic designs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Mannheim et al. (2022)</a:t>
            </a:r>
          </a:p>
        </p:txBody>
      </p:sp>
    </p:spTree>
    <p:extLst>
      <p:ext uri="{BB962C8B-B14F-4D97-AF65-F5344CB8AC3E}">
        <p14:creationId xmlns:p14="http://schemas.microsoft.com/office/powerpoint/2010/main" val="2616669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32B20-8869-D98A-38F1-4ECECFBA6F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541148-AE86-20BA-06D2-C0DACBF508E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6435F6F0-96C3-B6C0-B342-21321FDC5084}"/>
              </a:ext>
            </a:extLst>
          </p:cNvPr>
          <p:cNvSpPr txBox="1"/>
          <p:nvPr/>
        </p:nvSpPr>
        <p:spPr>
          <a:xfrm>
            <a:off x="1631862" y="316499"/>
            <a:ext cx="10221935" cy="461665"/>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graphicFrame>
        <p:nvGraphicFramePr>
          <p:cNvPr id="12" name="Table 11">
            <a:extLst>
              <a:ext uri="{FF2B5EF4-FFF2-40B4-BE49-F238E27FC236}">
                <a16:creationId xmlns:a16="http://schemas.microsoft.com/office/drawing/2014/main" id="{53016358-B3D3-CF63-05CD-7BB74A2C84E5}"/>
              </a:ext>
            </a:extLst>
          </p:cNvPr>
          <p:cNvGraphicFramePr>
            <a:graphicFrameLocks noGrp="1"/>
          </p:cNvGraphicFramePr>
          <p:nvPr>
            <p:extLst>
              <p:ext uri="{D42A27DB-BD31-4B8C-83A1-F6EECF244321}">
                <p14:modId xmlns:p14="http://schemas.microsoft.com/office/powerpoint/2010/main" val="3754089342"/>
              </p:ext>
            </p:extLst>
          </p:nvPr>
        </p:nvGraphicFramePr>
        <p:xfrm>
          <a:off x="279401" y="1395485"/>
          <a:ext cx="11574396" cy="5420336"/>
        </p:xfrm>
        <a:graphic>
          <a:graphicData uri="http://schemas.openxmlformats.org/drawingml/2006/table">
            <a:tbl>
              <a:tblPr firstRow="1" bandRow="1">
                <a:tableStyleId>{69012ECD-51FC-41F1-AA8D-1B2483CD663E}</a:tableStyleId>
              </a:tblPr>
              <a:tblGrid>
                <a:gridCol w="3301999">
                  <a:extLst>
                    <a:ext uri="{9D8B030D-6E8A-4147-A177-3AD203B41FA5}">
                      <a16:colId xmlns:a16="http://schemas.microsoft.com/office/drawing/2014/main" val="2221359430"/>
                    </a:ext>
                  </a:extLst>
                </a:gridCol>
                <a:gridCol w="3403600">
                  <a:extLst>
                    <a:ext uri="{9D8B030D-6E8A-4147-A177-3AD203B41FA5}">
                      <a16:colId xmlns:a16="http://schemas.microsoft.com/office/drawing/2014/main" val="3328806665"/>
                    </a:ext>
                  </a:extLst>
                </a:gridCol>
                <a:gridCol w="4868797">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Address Specific Usability Barriers Through Multiple Modalities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Age-related changes are diverse and specific: vision (contrast, small text), motor (dexterity, tremor), cognitive (processing speed, working memory)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Each barrier requires specific solution—there is no one-size-fits-all "accessible" design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Voice interfaces remove multiple barriers simultaneously: no typing (motor), no reading (visual), natural conversation (cognitive)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Systematically address each barrier type with evidence-based solutions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multiple pathways to accomplish the same task (visual + voice + touch)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Voice interaction is not a "nice to have"—it's a primary accessibility strategy that removes keyboard, screen, and navigation barriers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Different users need different combinations of accommodations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Visual barriers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Adjustable brightness/contrast, Larger default text and touch targets, Clear visual hierarchy, High contrast modes</a:t>
                      </a:r>
                    </a:p>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Motor barriers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Larger touch targets, Longer tap durations accepted, Voice commands as alternative to all physical interactions</a:t>
                      </a:r>
                    </a:p>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Cognitive barriers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Reduce cognitive load through simplification, Maintain consistent patterns across interface, Provide context and clear labels, Make information visible, Voice interfaces that use natural conversation instead of requiring users to learn complex navigation</a:t>
                      </a:r>
                    </a:p>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Voice as cross-barrier solution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Uses familiar conversation patterns, Provides alternative pathway when traditional interfaces fail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2" name="TextBox 1">
            <a:extLst>
              <a:ext uri="{FF2B5EF4-FFF2-40B4-BE49-F238E27FC236}">
                <a16:creationId xmlns:a16="http://schemas.microsoft.com/office/drawing/2014/main" id="{8F41089C-6720-BF3C-AE7A-2D5CCBC20D9A}"/>
              </a:ext>
            </a:extLst>
          </p:cNvPr>
          <p:cNvSpPr txBox="1"/>
          <p:nvPr/>
        </p:nvSpPr>
        <p:spPr>
          <a:xfrm>
            <a:off x="308802" y="778164"/>
            <a:ext cx="11383896" cy="369332"/>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“Voice companion will be the gateway to drive engagement” </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Neil Dsouza, Get Set Up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847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37BA7-96E4-649A-5D07-208851F88F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D93412-87D4-EC01-5626-3B0DD4028F5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1EFB30DB-4857-4112-8298-2C1FC7D29249}"/>
              </a:ext>
            </a:extLst>
          </p:cNvPr>
          <p:cNvSpPr txBox="1"/>
          <p:nvPr/>
        </p:nvSpPr>
        <p:spPr>
          <a:xfrm>
            <a:off x="1631862" y="316499"/>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graphicFrame>
        <p:nvGraphicFramePr>
          <p:cNvPr id="12" name="Table 11">
            <a:extLst>
              <a:ext uri="{FF2B5EF4-FFF2-40B4-BE49-F238E27FC236}">
                <a16:creationId xmlns:a16="http://schemas.microsoft.com/office/drawing/2014/main" id="{09194219-E804-9638-BC9C-FAFEFC4E869B}"/>
              </a:ext>
            </a:extLst>
          </p:cNvPr>
          <p:cNvGraphicFramePr>
            <a:graphicFrameLocks noGrp="1"/>
          </p:cNvGraphicFramePr>
          <p:nvPr>
            <p:extLst>
              <p:ext uri="{D42A27DB-BD31-4B8C-83A1-F6EECF244321}">
                <p14:modId xmlns:p14="http://schemas.microsoft.com/office/powerpoint/2010/main" val="3948523259"/>
              </p:ext>
            </p:extLst>
          </p:nvPr>
        </p:nvGraphicFramePr>
        <p:xfrm>
          <a:off x="308802" y="1711984"/>
          <a:ext cx="11574396" cy="4550775"/>
        </p:xfrm>
        <a:graphic>
          <a:graphicData uri="http://schemas.openxmlformats.org/drawingml/2006/table">
            <a:tbl>
              <a:tblPr firstRow="1" bandRow="1">
                <a:tableStyleId>{69012ECD-51FC-41F1-AA8D-1B2483CD663E}</a:tableStyleId>
              </a:tblPr>
              <a:tblGrid>
                <a:gridCol w="3789297">
                  <a:extLst>
                    <a:ext uri="{9D8B030D-6E8A-4147-A177-3AD203B41FA5}">
                      <a16:colId xmlns:a16="http://schemas.microsoft.com/office/drawing/2014/main" val="2221359430"/>
                    </a:ext>
                  </a:extLst>
                </a:gridCol>
                <a:gridCol w="3594100">
                  <a:extLst>
                    <a:ext uri="{9D8B030D-6E8A-4147-A177-3AD203B41FA5}">
                      <a16:colId xmlns:a16="http://schemas.microsoft.com/office/drawing/2014/main" val="3328806665"/>
                    </a:ext>
                  </a:extLst>
                </a:gridCol>
                <a:gridCol w="4190999">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Build Person-Centered Profiles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Aging is heterogeneous — huge diversity in abilities and preferences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What works for one 70-year-old won't work for another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Person-centered design requires learning individual preferences, not applying age-based assumptions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Customization should be granular and comprehensive, not just "large font" toggle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Systems should learn and remember individual preferences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Allow users to control level of assistance they receive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Adaptive systems should adjust based on individual patterns, not age stereotypes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Onboarding that learns preferences through usage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Saved profiles with individual settings that persist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Adaptive difficulty that adjusts to user's demonstrated capability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Remember user choices across sessions</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Granular control over assistance levels</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Allow users to opt out of features designed to help if they don't find them helpful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2" name="TextBox 1">
            <a:extLst>
              <a:ext uri="{FF2B5EF4-FFF2-40B4-BE49-F238E27FC236}">
                <a16:creationId xmlns:a16="http://schemas.microsoft.com/office/drawing/2014/main" id="{58A9FE2F-5C9A-7859-F424-C158DCAF3799}"/>
              </a:ext>
            </a:extLst>
          </p:cNvPr>
          <p:cNvSpPr txBox="1"/>
          <p:nvPr/>
        </p:nvSpPr>
        <p:spPr>
          <a:xfrm>
            <a:off x="469901" y="1061799"/>
            <a:ext cx="11383896"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Older adults are often framed as passive, technophobic, or dependent, leading to paternalistic designs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Mannheim et al. (2022)</a:t>
            </a:r>
          </a:p>
        </p:txBody>
      </p:sp>
    </p:spTree>
    <p:extLst>
      <p:ext uri="{BB962C8B-B14F-4D97-AF65-F5344CB8AC3E}">
        <p14:creationId xmlns:p14="http://schemas.microsoft.com/office/powerpoint/2010/main" val="4146435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5548</TotalTime>
  <Words>3328</Words>
  <Application>Microsoft Macintosh PowerPoint</Application>
  <PresentationFormat>Widescreen</PresentationFormat>
  <Paragraphs>326</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Bangla MN</vt:lpstr>
      <vt:lpstr>Symbol</vt:lpstr>
      <vt:lpstr>Times New Roman</vt:lpstr>
      <vt:lpstr>Office Theme</vt:lpstr>
      <vt:lpstr>Learning Design in AgeTech: Findings from the Impact by Design Project</vt:lpstr>
      <vt:lpstr>Why This Work Matters</vt:lpstr>
      <vt:lpstr>The Disconnect: What We Know vs. What We Build</vt:lpstr>
      <vt:lpstr>The current state of AgeTech</vt:lpstr>
      <vt:lpstr>The Digital Divide: Created by Design, Not Capability</vt:lpstr>
      <vt:lpstr>Barriers to Effective AgeTech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Wadhwa, Sneha</dc:creator>
  <cp:lastModifiedBy>Wadhwa, Sneha</cp:lastModifiedBy>
  <cp:revision>2</cp:revision>
  <dcterms:created xsi:type="dcterms:W3CDTF">2025-10-29T02:34:22Z</dcterms:created>
  <dcterms:modified xsi:type="dcterms:W3CDTF">2025-11-01T23:18:35Z</dcterms:modified>
</cp:coreProperties>
</file>